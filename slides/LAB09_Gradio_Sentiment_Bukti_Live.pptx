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88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6.png"/><Relationship Id="rId6" Type="http://schemas.openxmlformats.org/officeDocument/2006/relationships/image" Target="../media/image5.png"/><Relationship Id="rId7" Type="http://schemas.openxmlformats.org/officeDocument/2006/relationships/image" Target="../media/image10.png"/><Relationship Id="rId8" Type="http://schemas.openxmlformats.org/officeDocument/2006/relationships/image" Target="../media/image4.png"/><Relationship Id="rId9" Type="http://schemas.openxmlformats.org/officeDocument/2006/relationships/image" Target="../media/image9.png"/><Relationship Id="rId10" Type="http://schemas.openxmlformats.org/officeDocument/2006/relationships/image" Target="../media/image3.png"/><Relationship Id="rId11" Type="http://schemas.openxmlformats.org/officeDocument/2006/relationships/image" Target="../media/image8.png"/><Relationship Id="rId1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28600"/>
            <a:ext cx="914400" cy="603504"/>
          </a:xfrm>
          <a:prstGeom prst="rect">
            <a:avLst/>
          </a:prstGeom>
        </p:spPr>
      </p:pic>
      <p:pic>
        <p:nvPicPr>
          <p:cNvPr id="16" name="Imag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246888"/>
            <a:ext cx="1005840" cy="512064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F22C0D24-9582-4055-B96E-086F043FB393}"/>
              </a:ext>
            </a:extLst>
          </p:cNvPr>
          <p:cNvSpPr>
            <a:spLocks noGrp="1"/>
          </p:cNvSpPr>
          <p:nvPr/>
        </p:nvSpPr>
        <p:spPr>
          <a:xfrm>
            <a:off x="457200" y="2468880"/>
            <a:ext cx="112471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 spc="4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COMP6991031   |   PRAKTIKUM 9   |   100 MENIT</a:t>
            </a:r>
            <a:endParaRPr sz="140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395DB20-2FBB-4716-BB3B-870245084D90}"/>
              </a:ext>
            </a:extLst>
          </p:cNvPr>
          <p:cNvSpPr>
            <a:spLocks noGrp="1"/>
          </p:cNvSpPr>
          <p:nvPr/>
        </p:nvSpPr>
        <p:spPr>
          <a:xfrm>
            <a:off x="457200" y="27432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GRADIO + ML</a:t>
            </a:r>
            <a:endParaRPr sz="440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3C96ABA-DD0E-4159-9CD2-2668F3DB6FB3}"/>
              </a:ext>
            </a:extLst>
          </p:cNvPr>
          <p:cNvSpPr>
            <a:spLocks noGrp="1"/>
          </p:cNvSpPr>
          <p:nvPr/>
        </p:nvSpPr>
        <p:spPr>
          <a:xfrm>
            <a:off x="457200" y="338328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SENTIMENT LAB</a:t>
            </a:r>
            <a:endParaRPr sz="440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2092B81-0753-42FE-A8EC-65ED48340421}"/>
              </a:ext>
            </a:extLst>
          </p:cNvPr>
          <p:cNvSpPr>
            <a:spLocks noGrp="1"/>
          </p:cNvSpPr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Baseline Naive Bayes lokal; DistilBERT dan Space opsional</a:t>
            </a:r>
            <a:endParaRPr sz="220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A3B9C7D-DC8A-47DF-B0E2-6BFB381830C5}"/>
              </a:ext>
            </a:extLst>
          </p:cNvPr>
          <p:cNvSpPr>
            <a:spLocks noGrp="1"/>
          </p:cNvSpPr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 UI yang dapat diulang tanpa akun cloud</a:t>
            </a:r>
            <a:endParaRPr sz="140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E3CB6E57-5644-4AC7-B135-4734F0A7440A}"/>
              </a:ext>
            </a:extLst>
          </p:cNvPr>
          <p:cNvSpPr>
            <a:spLocks noGrp="1"/>
          </p:cNvSpPr>
          <p:nvPr/>
        </p:nvSpPr>
        <p:spPr>
          <a:xfrm>
            <a:off x="5715000" y="5029200"/>
            <a:ext cx="731520" cy="54864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p/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F275C3B-642A-4524-9CAF-CB55C7026CDC}"/>
              </a:ext>
            </a:extLst>
          </p:cNvPr>
          <p:cNvSpPr>
            <a:spLocks noGrp="1"/>
          </p:cNvSpPr>
          <p:nvPr/>
        </p:nvSpPr>
        <p:spPr>
          <a:xfrm>
            <a:off x="457200" y="5166360"/>
            <a:ext cx="112471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200" i="1" spc="3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PERTEMUAN 9  |  HF SPACES + GRADIO</a:t>
            </a:r>
            <a:endParaRPr sz="120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A341571A-B7AB-4A71-B71F-6D85008521D3}"/>
              </a:ext>
            </a:extLst>
          </p:cNvPr>
          <p:cNvSpPr>
            <a:spLocks noGrp="1"/>
          </p:cNvSpPr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Budi Juarto, S.T., M.Kom.</a:t>
            </a:r>
            <a:endParaRPr sz="13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7D832470-B678-48BB-9AA4-355FC4D182E1}"/>
              </a:ext>
            </a:extLst>
          </p:cNvPr>
          <p:cNvSpPr>
            <a:spLocks noGrp="1"/>
          </p:cNvSpPr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Departemen Informatika  -  BINUS @Bandung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979451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C961723-C39F-43A7-9F21-FC2D03575513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9</a:t>
            </a:r>
            <a:endParaRPr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6686CA7-DC67-4926-9C79-8140F5328D3E}"/>
              </a:ext>
            </a:extLst>
          </p:cNvPr>
          <p:cNvSpPr>
            <a:spLocks noGrp="1"/>
          </p:cNvSpPr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440A7E0-052E-4107-B56A-980E42A56EEB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p/>
        </p:txBody>
      </p:sp>
      <p:pic>
        <p:nvPicPr>
          <p:cNvPr id="4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4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71AB99DE-1CF9-4D39-9FDD-77971DF725BB}"/>
              </a:ext>
            </a:extLst>
          </p:cNvPr>
          <p:cNvSpPr>
            <a:spLocks noGrp="1"/>
          </p:cNvSpPr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23617C71-7612-40CB-AD30-CC18C0B9FF80}"/>
              </a:ext>
            </a:extLst>
          </p:cNvPr>
          <p:cNvSpPr>
            <a:spLocks noGrp="1"/>
          </p:cNvSpPr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Alur praktik Lab 09</a:t>
            </a:r>
            <a:endParaRPr sz="22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69E56AD8-4ECE-4124-AD1F-E033B5A6367A}"/>
              </a:ext>
            </a:extLst>
          </p:cNvPr>
          <p:cNvSpPr>
            <a:spLocks noGrp="1"/>
          </p:cNvSpPr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Latih model kecil dari TSV, uji UI nyata, dan jelaskan batas probabilitas</a:t>
            </a:r>
            <a:endParaRPr sz="120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D675194A-474D-43FD-825E-C988F8A2E0E0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61BB84AE-7C08-4BBD-AF56-41555A23C7B0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 INTI</a:t>
            </a:r>
          </a:p>
          <a:p>
            <a:pPr marL="0" indent="0">
              <a:buNone/>
            </a:pPr>
            <a:endParaRPr lang="en-US" sz="1100" b="1" spc="300">
              <a:solidFill>
                <a:srgbClr val="F37021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Kode yang tersedia</a:t>
            </a:r>
            <a:endParaRPr sz="1100"/>
          </a:p>
        </p:txBody>
      </p:sp>
      <p:pic>
        <p:nvPicPr>
          <p:cNvPr id="50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697480"/>
            <a:ext cx="292608" cy="292608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BCBD668A-92F0-4366-A9F4-895EB1650FCF}"/>
              </a:ext>
            </a:extLst>
          </p:cNvPr>
          <p:cNvSpPr>
            <a:spLocks noGrp="1"/>
          </p:cNvSpPr>
          <p:nvPr/>
        </p:nvSpPr>
        <p:spPr>
          <a:xfrm>
            <a:off x="1207008" y="260604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Buat venv dan install Gradio</a:t>
            </a:r>
            <a:endParaRPr sz="1600"/>
          </a:p>
        </p:txBody>
      </p:sp>
      <p:pic>
        <p:nvPicPr>
          <p:cNvPr id="5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200400"/>
            <a:ext cx="292608" cy="292608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710EB49E-F36C-4A92-A55C-76E6F35523C4}"/>
              </a:ext>
            </a:extLst>
          </p:cNvPr>
          <p:cNvSpPr>
            <a:spLocks noGrp="1"/>
          </p:cNvSpPr>
          <p:nvPr/>
        </p:nvSpPr>
        <p:spPr>
          <a:xfrm>
            <a:off x="1207008" y="310896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it-IT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Latih baseline dari training.tsv</a:t>
            </a:r>
            <a:endParaRPr sz="1600"/>
          </a:p>
        </p:txBody>
      </p:sp>
      <p:pic>
        <p:nvPicPr>
          <p:cNvPr id="54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703320"/>
            <a:ext cx="292608" cy="292608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81075E4D-C73D-487C-ADB3-C13505A322E3}"/>
              </a:ext>
            </a:extLst>
          </p:cNvPr>
          <p:cNvSpPr>
            <a:spLocks noGrp="1"/>
          </p:cNvSpPr>
          <p:nvPr/>
        </p:nvSpPr>
        <p:spPr>
          <a:xfrm>
            <a:off x="1207008" y="361188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Buka web lokal port 7860</a:t>
            </a:r>
            <a:endParaRPr sz="1600"/>
          </a:p>
        </p:txBody>
      </p:sp>
      <p:pic>
        <p:nvPicPr>
          <p:cNvPr id="56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206240"/>
            <a:ext cx="292608" cy="292608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3E95022A-D30E-459B-B6AD-BAE0C675BB50}"/>
              </a:ext>
            </a:extLst>
          </p:cNvPr>
          <p:cNvSpPr>
            <a:spLocks noGrp="1"/>
          </p:cNvSpPr>
          <p:nvPr/>
        </p:nvSpPr>
        <p:spPr>
          <a:xfrm>
            <a:off x="1207008" y="411480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Bandingkan teks positif/negatif</a:t>
            </a:r>
            <a:endParaRPr sz="1600"/>
          </a:p>
        </p:txBody>
      </p:sp>
      <p:pic>
        <p:nvPicPr>
          <p:cNvPr id="58" name="Imag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4709160"/>
            <a:ext cx="292608" cy="292608"/>
          </a:xfrm>
          <a:prstGeom prst="rect">
            <a:avLst/>
          </a:prstGeom>
        </p:spPr>
      </p:pic>
      <p:sp>
        <p:nvSpPr>
          <p:cNvPr id="21" name="Text 12">
            <a:extLst>
              <a:ext uri="{FF2B5EF4-FFF2-40B4-BE49-F238E27FC236}">
                <a16:creationId xmlns:a16="http://schemas.microsoft.com/office/drawing/2014/main" id="{2DFEABD8-2A52-451D-A861-E0676E74751D}"/>
              </a:ext>
            </a:extLst>
          </p:cNvPr>
          <p:cNvSpPr>
            <a:spLocks noGrp="1"/>
          </p:cNvSpPr>
          <p:nvPr/>
        </p:nvSpPr>
        <p:spPr>
          <a:xfrm>
            <a:off x="1207008" y="461772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Ubah ambang keputusan</a:t>
            </a:r>
            <a:endParaRPr sz="1600"/>
          </a:p>
        </p:txBody>
      </p:sp>
      <p:pic>
        <p:nvPicPr>
          <p:cNvPr id="60" name="Imag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23" name="Text 13">
            <a:extLst>
              <a:ext uri="{FF2B5EF4-FFF2-40B4-BE49-F238E27FC236}">
                <a16:creationId xmlns:a16="http://schemas.microsoft.com/office/drawing/2014/main" id="{7F2AE965-A28E-410A-BF60-D2DA641A648A}"/>
              </a:ext>
            </a:extLst>
          </p:cNvPr>
          <p:cNvSpPr>
            <a:spLocks noGrp="1"/>
          </p:cNvSpPr>
          <p:nvPr/>
        </p:nvSpPr>
        <p:spPr>
          <a:xfrm>
            <a:off x="1207008" y="512064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nl-NL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Uji input kosong dan token</a:t>
            </a:r>
            <a:endParaRPr sz="1600"/>
          </a:p>
        </p:txBody>
      </p:sp>
      <p:pic>
        <p:nvPicPr>
          <p:cNvPr id="62" name="Imag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" y="5715000"/>
            <a:ext cx="292608" cy="292608"/>
          </a:xfrm>
          <a:prstGeom prst="rect">
            <a:avLst/>
          </a:prstGeom>
        </p:spPr>
      </p:pic>
      <p:sp>
        <p:nvSpPr>
          <p:cNvPr id="25" name="Text 14">
            <a:extLst>
              <a:ext uri="{FF2B5EF4-FFF2-40B4-BE49-F238E27FC236}">
                <a16:creationId xmlns:a16="http://schemas.microsoft.com/office/drawing/2014/main" id="{90F79CD5-12D9-43D7-BB1D-922AC1F983E7}"/>
              </a:ext>
            </a:extLst>
          </p:cNvPr>
          <p:cNvSpPr>
            <a:spLocks noGrp="1"/>
          </p:cNvSpPr>
          <p:nvPr/>
        </p:nvSpPr>
        <p:spPr>
          <a:xfrm>
            <a:off x="1207008" y="562356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Space/DistilBERT bila tersedia</a:t>
            </a:r>
            <a:endParaRPr sz="1600"/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F84D3839-FC3D-4CBC-B52E-C87E51DDFA5A}"/>
              </a:ext>
            </a:extLst>
          </p:cNvPr>
          <p:cNvSpPr>
            <a:spLocks noGrp="1"/>
          </p:cNvSpPr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002677"/>
          </a:solidFill>
          <a:ln w="12700">
            <a:solidFill>
              <a:srgbClr val="002677"/>
            </a:solidFill>
            <a:prstDash val="solid"/>
          </a:ln>
        </p:spPr>
        <p:txBody>
          <a:bodyPr/>
          <a:p/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9F05ADC2-CCF7-43AC-88F4-D1608DCB38AA}"/>
              </a:ext>
            </a:extLst>
          </p:cNvPr>
          <p:cNvSpPr>
            <a:spLocks noGrp="1"/>
          </p:cNvSpPr>
          <p:nvPr/>
        </p:nvSpPr>
        <p:spPr>
          <a:xfrm>
            <a:off x="6446520" y="160020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YANG DIKUMPULKAN</a:t>
            </a:r>
          </a:p>
          <a:p>
            <a:pPr marL="0" indent="0">
              <a:buNone/>
            </a:pPr>
            <a:endParaRPr lang="en-US" sz="1100" b="1" spc="300">
              <a:solidFill>
                <a:srgbClr val="F37021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Hasil mesin sendiri</a:t>
            </a:r>
            <a:endParaRPr sz="1100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7E63DC43-7983-416E-B299-C4C16CC64C1E}"/>
              </a:ext>
            </a:extLst>
          </p:cNvPr>
          <p:cNvSpPr>
            <a:spLocks noGrp="1"/>
          </p:cNvSpPr>
          <p:nvPr/>
        </p:nvSpPr>
        <p:spPr>
          <a:xfrm>
            <a:off x="6446520" y="2606040"/>
            <a:ext cx="5029200" cy="2743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Bukti training dan UI Gradio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Positif, negatif, input kosong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Pengaruh ambang dan token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Source Git tanpa token/cache</a:t>
            </a:r>
            <a:endParaRPr sz="1700"/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22AB78DD-7A04-4C77-AD19-D4BAE52D77F4}"/>
              </a:ext>
            </a:extLst>
          </p:cNvPr>
          <p:cNvSpPr>
            <a:spLocks noGrp="1"/>
          </p:cNvSpPr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p/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177DE92C-C6F9-457C-8D4A-E6EEDAB1E371}"/>
              </a:ext>
            </a:extLst>
          </p:cNvPr>
          <p:cNvSpPr>
            <a:spLocks noGrp="1"/>
          </p:cNvSpPr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Ikuti modul mahasiswa untuk perintah lengkap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136629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13CA0E8-BD3C-4B77-A362-5BB3C026EF4C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9</a:t>
            </a:r>
            <a:endParaRPr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33F754-2DF1-440B-BF5B-F9EEB4A4271A}"/>
              </a:ext>
            </a:extLst>
          </p:cNvPr>
          <p:cNvSpPr>
            <a:spLocks noGrp="1"/>
          </p:cNvSpPr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E0F2E16-8FC0-42CD-AA36-90B973871BA0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p/>
        </p:txBody>
      </p:sp>
      <p:pic>
        <p:nvPicPr>
          <p:cNvPr id="2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30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59BB35C5-A7A0-4E15-A398-8EA043570C7F}"/>
              </a:ext>
            </a:extLst>
          </p:cNvPr>
          <p:cNvSpPr>
            <a:spLocks noGrp="1"/>
          </p:cNvSpPr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23F9ACF-A0B8-4B73-BEAF-65FEA8D61DF9}"/>
              </a:ext>
            </a:extLst>
          </p:cNvPr>
          <p:cNvSpPr>
            <a:spLocks noGrp="1"/>
          </p:cNvSpPr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1 | Siapkan Python dan latih baseline</a:t>
            </a:r>
            <a:endParaRPr sz="22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E7B68BB-0E8F-44B1-AD7C-738CB5298996}"/>
              </a:ext>
            </a:extLst>
          </p:cNvPr>
          <p:cNvSpPr>
            <a:spLocks noGrp="1"/>
          </p:cNvSpPr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Dari root repo Lab 09; tidak perlu Docker atau cloud account</a:t>
            </a:r>
            <a:endParaRPr sz="120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978AB542-6886-4C45-AD1A-0F0FF13E5B8A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F3486B06-1913-4E8F-8D6D-5CC310564514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5577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F75729D1-8074-4688-A12B-6570771445BC}"/>
              </a:ext>
            </a:extLst>
          </p:cNvPr>
          <p:cNvSpPr>
            <a:spLocks noGrp="1"/>
          </p:cNvSpPr>
          <p:nvPr/>
        </p:nvSpPr>
        <p:spPr>
          <a:xfrm>
            <a:off x="54864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4D9FB037-AD92-4BC5-9A37-1E321E4F27E7}"/>
              </a:ext>
            </a:extLst>
          </p:cNvPr>
          <p:cNvSpPr>
            <a:spLocks noGrp="1"/>
          </p:cNvSpPr>
          <p:nvPr/>
        </p:nvSpPr>
        <p:spPr>
          <a:xfrm>
            <a:off x="68580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11CD357B-578A-4CEF-973B-C506DEF3A613}"/>
              </a:ext>
            </a:extLst>
          </p:cNvPr>
          <p:cNvSpPr>
            <a:spLocks noGrp="1"/>
          </p:cNvSpPr>
          <p:nvPr/>
        </p:nvSpPr>
        <p:spPr>
          <a:xfrm>
            <a:off x="82296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0CFCEA9-E015-44A4-9A66-0C5562839F36}"/>
              </a:ext>
            </a:extLst>
          </p:cNvPr>
          <p:cNvSpPr>
            <a:spLocks noGrp="1"/>
          </p:cNvSpPr>
          <p:nvPr/>
        </p:nvSpPr>
        <p:spPr>
          <a:xfrm>
            <a:off x="1005840" y="141732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PowerShell</a:t>
            </a:r>
            <a:endParaRPr sz="90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3745EB0B-3857-4878-A27C-F024329AB100}"/>
              </a:ext>
            </a:extLst>
          </p:cNvPr>
          <p:cNvSpPr>
            <a:spLocks noGrp="1"/>
          </p:cNvSpPr>
          <p:nvPr/>
        </p:nvSpPr>
        <p:spPr>
          <a:xfrm>
            <a:off x="594360" y="1783080"/>
            <a:ext cx="5303520" cy="42976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lang="en-US" sz="1500">
                <a:solidFill>
                  <a:srgbClr val="FFFFFF"/>
                </a:solidFill>
                <a:latin typeface="Consolas" panose="020B0609020204030204" pitchFamily="49" charset="0"/>
                <a:ea typeface="Consolas"/>
                <a:cs typeface="Consolas"/>
              </a:rPr>
              <a:t>python --version
python -m venv .venv
.\.venv\Scripts\python -m pip install `
  -r requirements.txt
.\.venv\Scripts\python core.py</a:t>
            </a:r>
            <a:endParaRPr sz="15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BE1C12C1-5EF2-409F-A328-47830E30D944}"/>
              </a:ext>
            </a:extLst>
          </p:cNvPr>
          <p:cNvSpPr>
            <a:spLocks noGrp="1"/>
          </p:cNvSpPr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AC9362A5-765D-4427-A783-0EA8C7DDB742}"/>
              </a:ext>
            </a:extLst>
          </p:cNvPr>
          <p:cNvSpPr>
            <a:spLocks noGrp="1"/>
          </p:cNvSpPr>
          <p:nvPr/>
        </p:nvSpPr>
        <p:spPr>
          <a:xfrm>
            <a:off x="6217920" y="1417320"/>
            <a:ext cx="54864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5772F27A-5484-4A6C-B440-BA5A37ACF3A1}"/>
              </a:ext>
            </a:extLst>
          </p:cNvPr>
          <p:cNvSpPr>
            <a:spLocks noGrp="1"/>
          </p:cNvSpPr>
          <p:nvPr/>
        </p:nvSpPr>
        <p:spPr>
          <a:xfrm>
            <a:off x="630936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32FA81DE-CAE2-4517-8221-8A3357F3F408}"/>
              </a:ext>
            </a:extLst>
          </p:cNvPr>
          <p:cNvSpPr>
            <a:spLocks noGrp="1"/>
          </p:cNvSpPr>
          <p:nvPr/>
        </p:nvSpPr>
        <p:spPr>
          <a:xfrm>
            <a:off x="644652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3EC68879-B1A3-47E4-A146-53C188AF6149}"/>
              </a:ext>
            </a:extLst>
          </p:cNvPr>
          <p:cNvSpPr>
            <a:spLocks noGrp="1"/>
          </p:cNvSpPr>
          <p:nvPr/>
        </p:nvSpPr>
        <p:spPr>
          <a:xfrm>
            <a:off x="658368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A767BE49-3CCC-47D6-A3A8-62DC34BE60DA}"/>
              </a:ext>
            </a:extLst>
          </p:cNvPr>
          <p:cNvSpPr>
            <a:spLocks noGrp="1"/>
          </p:cNvSpPr>
          <p:nvPr/>
        </p:nvSpPr>
        <p:spPr>
          <a:xfrm>
            <a:off x="6766560" y="14173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Apa yang dilakukan core.py?</a:t>
            </a:r>
            <a:endParaRPr sz="90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2B7C91AB-2AC1-4178-A76B-91F132073C26}"/>
              </a:ext>
            </a:extLst>
          </p:cNvPr>
          <p:cNvSpPr>
            <a:spLocks noGrp="1"/>
          </p:cNvSpPr>
          <p:nvPr/>
        </p:nvSpPr>
        <p:spPr>
          <a:xfrm>
            <a:off x="6355080" y="1783080"/>
            <a:ext cx="5212080" cy="42976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lang="en-US" sz="1600">
                <a:solidFill>
                  <a:srgbClr val="FFFFFF"/>
                </a:solidFill>
                <a:latin typeface="Aptos" panose="020B0004020202020204" pitchFamily="34" charset="0"/>
                <a:ea typeface="Consolas"/>
                <a:cs typeface="Consolas"/>
              </a:rPr>
              <a:t>load_training membaca training.tsv.
Token diubah ke huruf kecil.
NaiveBayes menghitung kata per label.
Laplace smoothing mencegah peluang 0.
Sanity check: positif dan negatif.
24 sampel kecil hanya untuk kelas.</a:t>
            </a:r>
            <a:endParaRPr sz="16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542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C960A9-602C-4D55-AA17-A15286FA159D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9</a:t>
            </a:r>
            <a:endParaRPr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13AED4-2391-47D0-9206-360588FA1D2E}"/>
              </a:ext>
            </a:extLst>
          </p:cNvPr>
          <p:cNvSpPr>
            <a:spLocks noGrp="1"/>
          </p:cNvSpPr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</a:t>
            </a:r>
            <a:endParaRPr sz="9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0F9DE12-2E19-4B8E-B6B5-229506FE52D6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p/>
        </p:txBody>
      </p:sp>
      <p:pic>
        <p:nvPicPr>
          <p:cNvPr id="4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4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B6AD358F-20C5-4F56-A575-6AF86DBE353F}"/>
              </a:ext>
            </a:extLst>
          </p:cNvPr>
          <p:cNvSpPr>
            <a:spLocks noGrp="1"/>
          </p:cNvSpPr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4FF1BE9-F166-485A-9C24-CA72E1679E38}"/>
              </a:ext>
            </a:extLst>
          </p:cNvPr>
          <p:cNvSpPr>
            <a:spLocks noGrp="1"/>
          </p:cNvSpPr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1 | Baseline siap</a:t>
            </a:r>
            <a:endParaRPr sz="22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9D83C3F-92FF-40F8-8BF2-3617BA4D6782}"/>
              </a:ext>
            </a:extLst>
          </p:cNvPr>
          <p:cNvSpPr>
            <a:spLocks noGrp="1"/>
          </p:cNvSpPr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Sanity check dari core.py dan contoh data training.tsv</a:t>
            </a:r>
            <a:endParaRPr sz="120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39AD2CC0-61EE-42D9-84B2-3CF9D3891AA5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1DEACE7B-1739-4C81-BED9-41CCEFF632A7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0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697480"/>
            <a:ext cx="292608" cy="292608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B993A3C2-6EAF-49D8-8850-74D4957F6B0D}"/>
              </a:ext>
            </a:extLst>
          </p:cNvPr>
          <p:cNvSpPr>
            <a:spLocks noGrp="1"/>
          </p:cNvSpPr>
          <p:nvPr/>
        </p:nvSpPr>
        <p:spPr>
          <a:xfrm>
            <a:off x="1207008" y="260604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it-IT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Dua label: positive dan negative.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200400"/>
            <a:ext cx="292608" cy="292608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9F558DEE-51B4-41EE-AF8A-83EE748013D9}"/>
              </a:ext>
            </a:extLst>
          </p:cNvPr>
          <p:cNvSpPr>
            <a:spLocks noGrp="1"/>
          </p:cNvSpPr>
          <p:nvPr/>
        </p:nvSpPr>
        <p:spPr>
          <a:xfrm>
            <a:off x="1207008" y="310896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nl-NL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Baris TSV memisahkan label dan teks.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4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703320"/>
            <a:ext cx="292608" cy="292608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CCBD09FF-8377-4C55-913D-4518EEC3F039}"/>
              </a:ext>
            </a:extLst>
          </p:cNvPr>
          <p:cNvSpPr>
            <a:spLocks noGrp="1"/>
          </p:cNvSpPr>
          <p:nvPr/>
        </p:nvSpPr>
        <p:spPr>
          <a:xfrm>
            <a:off x="1207008" y="361188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python core.py membangun model lokal.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6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206240"/>
            <a:ext cx="292608" cy="292608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4197262A-344D-4D9E-8886-0F68EE0A9D3D}"/>
              </a:ext>
            </a:extLst>
          </p:cNvPr>
          <p:cNvSpPr>
            <a:spLocks noGrp="1"/>
          </p:cNvSpPr>
          <p:nvPr/>
        </p:nvSpPr>
        <p:spPr>
          <a:xfrm>
            <a:off x="1207008" y="411480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Output sanity check harus lulus.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8" name="Imag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4709160"/>
            <a:ext cx="292608" cy="292608"/>
          </a:xfrm>
          <a:prstGeom prst="rect">
            <a:avLst/>
          </a:prstGeom>
        </p:spPr>
      </p:pic>
      <p:sp>
        <p:nvSpPr>
          <p:cNvPr id="21" name="Text 12">
            <a:extLst>
              <a:ext uri="{FF2B5EF4-FFF2-40B4-BE49-F238E27FC236}">
                <a16:creationId xmlns:a16="http://schemas.microsoft.com/office/drawing/2014/main" id="{4BCCC600-E174-44E9-BA7E-E3D863EF3980}"/>
              </a:ext>
            </a:extLst>
          </p:cNvPr>
          <p:cNvSpPr>
            <a:spLocks noGrp="1"/>
          </p:cNvSpPr>
          <p:nvPr/>
        </p:nvSpPr>
        <p:spPr>
          <a:xfrm>
            <a:off x="1207008" y="461772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Tidak mengunduh checkpoint besar.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60" name="Imag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23" name="Text 13">
            <a:extLst>
              <a:ext uri="{FF2B5EF4-FFF2-40B4-BE49-F238E27FC236}">
                <a16:creationId xmlns:a16="http://schemas.microsoft.com/office/drawing/2014/main" id="{51C282E5-98A2-492C-A0FB-858F4827F279}"/>
              </a:ext>
            </a:extLst>
          </p:cNvPr>
          <p:cNvSpPr>
            <a:spLocks noGrp="1"/>
          </p:cNvSpPr>
          <p:nvPr/>
        </p:nvSpPr>
        <p:spPr>
          <a:xfrm>
            <a:off x="1207008" y="512064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Data kecil rentan bias dan overfit.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62" name="Imag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" y="5715000"/>
            <a:ext cx="292608" cy="292608"/>
          </a:xfrm>
          <a:prstGeom prst="rect">
            <a:avLst/>
          </a:prstGeom>
        </p:spPr>
      </p:pic>
      <p:sp>
        <p:nvSpPr>
          <p:cNvPr id="25" name="Text 14">
            <a:extLst>
              <a:ext uri="{FF2B5EF4-FFF2-40B4-BE49-F238E27FC236}">
                <a16:creationId xmlns:a16="http://schemas.microsoft.com/office/drawing/2014/main" id="{B177279E-DD89-4D39-980E-854DCABC1443}"/>
              </a:ext>
            </a:extLst>
          </p:cNvPr>
          <p:cNvSpPr>
            <a:spLocks noGrp="1"/>
          </p:cNvSpPr>
          <p:nvPr/>
        </p:nvSpPr>
        <p:spPr>
          <a:xfrm>
            <a:off x="1207008" y="562356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Lanjut ke app.py untuk UI.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C7B4490A-FFF5-41D3-9C52-A0C33420C96E}"/>
              </a:ext>
            </a:extLst>
          </p:cNvPr>
          <p:cNvSpPr>
            <a:spLocks noGrp="1"/>
          </p:cNvSpPr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002677"/>
          </a:solidFill>
          <a:ln w="12700">
            <a:solidFill>
              <a:srgbClr val="002677"/>
            </a:solidFill>
            <a:prstDash val="solid"/>
          </a:ln>
        </p:spPr>
        <p:txBody>
          <a:bodyPr/>
          <a:p/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20AA4EB3-BFF5-4F16-A7A7-B59505236308}"/>
              </a:ext>
            </a:extLst>
          </p:cNvPr>
          <p:cNvSpPr>
            <a:spLocks noGrp="1"/>
          </p:cNvSpPr>
          <p:nvPr/>
        </p:nvSpPr>
        <p:spPr>
          <a:xfrm>
            <a:off x="6446520" y="160020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A510FF9F-C5D6-4E2D-85B2-09BE823938C7}"/>
              </a:ext>
            </a:extLst>
          </p:cNvPr>
          <p:cNvSpPr>
            <a:spLocks noGrp="1"/>
          </p:cNvSpPr>
          <p:nvPr/>
        </p:nvSpPr>
        <p:spPr>
          <a:xfrm>
            <a:off x="6446520" y="2606040"/>
            <a:ext cx="5029200" cy="2743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AC58595B-EA01-4E90-92F0-726DDB18DDF6}"/>
              </a:ext>
            </a:extLst>
          </p:cNvPr>
          <p:cNvSpPr>
            <a:spLocks noGrp="1"/>
          </p:cNvSpPr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p/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1DD7F142-14F2-4CB5-A97B-19F12807B76A}"/>
              </a:ext>
            </a:extLst>
          </p:cNvPr>
          <p:cNvSpPr>
            <a:spLocks noGrp="1"/>
          </p:cNvSpPr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500" i="1">
                <a:solidFill>
                  <a:srgbClr val="FFFFFF"/>
                </a:solidFill>
                <a:latin typeface="Aptos" panose="020B0004020202020204" pitchFamily="34" charset="0"/>
                <a:ea typeface="Calibri"/>
                <a:cs typeface="Calibri"/>
              </a:rPr>
              <a:t>Baseline terlatih; sanity check lulus.</a:t>
            </a:r>
            <a:endParaRPr sz="15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C56CF0-5B55-EE9F-CE5F-2D8E4C63BABD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088" y="2069447"/>
            <a:ext cx="5084064" cy="306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221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13CA0E8-BD3C-4B77-A362-5BB3C026EF4C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9</a:t>
            </a:r>
            <a:endParaRPr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33F754-2DF1-440B-BF5B-F9EEB4A4271A}"/>
              </a:ext>
            </a:extLst>
          </p:cNvPr>
          <p:cNvSpPr>
            <a:spLocks noGrp="1"/>
          </p:cNvSpPr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E0F2E16-8FC0-42CD-AA36-90B973871BA0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p/>
        </p:txBody>
      </p:sp>
      <p:pic>
        <p:nvPicPr>
          <p:cNvPr id="2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30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59BB35C5-A7A0-4E15-A398-8EA043570C7F}"/>
              </a:ext>
            </a:extLst>
          </p:cNvPr>
          <p:cNvSpPr>
            <a:spLocks noGrp="1"/>
          </p:cNvSpPr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23F9ACF-A0B8-4B73-BEAF-65FEA8D61DF9}"/>
              </a:ext>
            </a:extLst>
          </p:cNvPr>
          <p:cNvSpPr>
            <a:spLocks noGrp="1"/>
          </p:cNvSpPr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2 | Jalankan web Gradio</a:t>
            </a:r>
            <a:endParaRPr sz="22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E7B68BB-0E8F-44B1-AD7C-738CB5298996}"/>
              </a:ext>
            </a:extLst>
          </p:cNvPr>
          <p:cNvSpPr>
            <a:spLocks noGrp="1"/>
          </p:cNvSpPr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Satu file app.py menghubungkan model, komponen, dan event</a:t>
            </a:r>
            <a:endParaRPr sz="120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978AB542-6886-4C45-AD1A-0F0FF13E5B8A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F3486B06-1913-4E8F-8D6D-5CC310564514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5577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F75729D1-8074-4688-A12B-6570771445BC}"/>
              </a:ext>
            </a:extLst>
          </p:cNvPr>
          <p:cNvSpPr>
            <a:spLocks noGrp="1"/>
          </p:cNvSpPr>
          <p:nvPr/>
        </p:nvSpPr>
        <p:spPr>
          <a:xfrm>
            <a:off x="54864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4D9FB037-AD92-4BC5-9A37-1E321E4F27E7}"/>
              </a:ext>
            </a:extLst>
          </p:cNvPr>
          <p:cNvSpPr>
            <a:spLocks noGrp="1"/>
          </p:cNvSpPr>
          <p:nvPr/>
        </p:nvSpPr>
        <p:spPr>
          <a:xfrm>
            <a:off x="68580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11CD357B-578A-4CEF-973B-C506DEF3A613}"/>
              </a:ext>
            </a:extLst>
          </p:cNvPr>
          <p:cNvSpPr>
            <a:spLocks noGrp="1"/>
          </p:cNvSpPr>
          <p:nvPr/>
        </p:nvSpPr>
        <p:spPr>
          <a:xfrm>
            <a:off x="82296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0CFCEA9-E015-44A4-9A66-0C5562839F36}"/>
              </a:ext>
            </a:extLst>
          </p:cNvPr>
          <p:cNvSpPr>
            <a:spLocks noGrp="1"/>
          </p:cNvSpPr>
          <p:nvPr/>
        </p:nvSpPr>
        <p:spPr>
          <a:xfrm>
            <a:off x="1005840" y="141732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PowerShell</a:t>
            </a:r>
            <a:endParaRPr sz="90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3745EB0B-3857-4878-A27C-F024329AB100}"/>
              </a:ext>
            </a:extLst>
          </p:cNvPr>
          <p:cNvSpPr>
            <a:spLocks noGrp="1"/>
          </p:cNvSpPr>
          <p:nvPr/>
        </p:nvSpPr>
        <p:spPr>
          <a:xfrm>
            <a:off x="594360" y="1783080"/>
            <a:ext cx="5303520" cy="42976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lang="en-US" sz="1500">
                <a:solidFill>
                  <a:srgbClr val="FFFFFF"/>
                </a:solidFill>
                <a:latin typeface="Consolas" panose="020B0609020204030204" pitchFamily="49" charset="0"/>
                <a:ea typeface="Consolas"/>
                <a:cs typeface="Consolas"/>
              </a:rPr>
              <a:t>.\.venv\Scripts\python app.py
# Buka http://127.0.0.1:7860
# Masukkan teks dan tekan Analisis.</a:t>
            </a:r>
            <a:endParaRPr sz="15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BE1C12C1-5EF2-409F-A328-47830E30D944}"/>
              </a:ext>
            </a:extLst>
          </p:cNvPr>
          <p:cNvSpPr>
            <a:spLocks noGrp="1"/>
          </p:cNvSpPr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AC9362A5-765D-4427-A783-0EA8C7DDB742}"/>
              </a:ext>
            </a:extLst>
          </p:cNvPr>
          <p:cNvSpPr>
            <a:spLocks noGrp="1"/>
          </p:cNvSpPr>
          <p:nvPr/>
        </p:nvSpPr>
        <p:spPr>
          <a:xfrm>
            <a:off x="6217920" y="1417320"/>
            <a:ext cx="54864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5772F27A-5484-4A6C-B440-BA5A37ACF3A1}"/>
              </a:ext>
            </a:extLst>
          </p:cNvPr>
          <p:cNvSpPr>
            <a:spLocks noGrp="1"/>
          </p:cNvSpPr>
          <p:nvPr/>
        </p:nvSpPr>
        <p:spPr>
          <a:xfrm>
            <a:off x="630936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32FA81DE-CAE2-4517-8221-8A3357F3F408}"/>
              </a:ext>
            </a:extLst>
          </p:cNvPr>
          <p:cNvSpPr>
            <a:spLocks noGrp="1"/>
          </p:cNvSpPr>
          <p:nvPr/>
        </p:nvSpPr>
        <p:spPr>
          <a:xfrm>
            <a:off x="644652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3EC68879-B1A3-47E4-A146-53C188AF6149}"/>
              </a:ext>
            </a:extLst>
          </p:cNvPr>
          <p:cNvSpPr>
            <a:spLocks noGrp="1"/>
          </p:cNvSpPr>
          <p:nvPr/>
        </p:nvSpPr>
        <p:spPr>
          <a:xfrm>
            <a:off x="658368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A767BE49-3CCC-47D6-A3A8-62DC34BE60DA}"/>
              </a:ext>
            </a:extLst>
          </p:cNvPr>
          <p:cNvSpPr>
            <a:spLocks noGrp="1"/>
          </p:cNvSpPr>
          <p:nvPr/>
        </p:nvSpPr>
        <p:spPr>
          <a:xfrm>
            <a:off x="6766560" y="14173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Komponen pada app.py</a:t>
            </a:r>
            <a:endParaRPr sz="90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2B7C91AB-2AC1-4178-A76B-91F132073C26}"/>
              </a:ext>
            </a:extLst>
          </p:cNvPr>
          <p:cNvSpPr>
            <a:spLocks noGrp="1"/>
          </p:cNvSpPr>
          <p:nvPr/>
        </p:nvSpPr>
        <p:spPr>
          <a:xfrm>
            <a:off x="6355080" y="1783080"/>
            <a:ext cx="5212080" cy="42976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lang="en-US" sz="1600">
                <a:solidFill>
                  <a:srgbClr val="FFFFFF"/>
                </a:solidFill>
                <a:latin typeface="Aptos" panose="020B0004020202020204" pitchFamily="34" charset="0"/>
                <a:ea typeface="Consolas"/>
                <a:cs typeface="Consolas"/>
              </a:rPr>
              <a:t>Textbox menerima kalimat.
Radio memilih baseline/DistilBERT.
Slider mengatur ambang positive.
Label menampilkan dua probabilitas.
JSON memberi detail keputusan.
Dataframe menjelaskan token baseline.</a:t>
            </a:r>
            <a:endParaRPr sz="16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23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C960A9-602C-4D55-AA17-A15286FA159D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9</a:t>
            </a:r>
            <a:endParaRPr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13AED4-2391-47D0-9206-360588FA1D2E}"/>
              </a:ext>
            </a:extLst>
          </p:cNvPr>
          <p:cNvSpPr>
            <a:spLocks noGrp="1"/>
          </p:cNvSpPr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0F9DE12-2E19-4B8E-B6B5-229506FE52D6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p/>
        </p:txBody>
      </p:sp>
      <p:pic>
        <p:nvPicPr>
          <p:cNvPr id="4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4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B6AD358F-20C5-4F56-A575-6AF86DBE353F}"/>
              </a:ext>
            </a:extLst>
          </p:cNvPr>
          <p:cNvSpPr>
            <a:spLocks noGrp="1"/>
          </p:cNvSpPr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4FF1BE9-F166-485A-9C24-CA72E1679E38}"/>
              </a:ext>
            </a:extLst>
          </p:cNvPr>
          <p:cNvSpPr>
            <a:spLocks noGrp="1"/>
          </p:cNvSpPr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2 | UI Gradio lokal</a:t>
            </a:r>
            <a:endParaRPr sz="22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9D83C3F-92FF-40F8-8BF2-3617BA4D6782}"/>
              </a:ext>
            </a:extLst>
          </p:cNvPr>
          <p:cNvSpPr>
            <a:spLocks noGrp="1"/>
          </p:cNvSpPr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Browser aktual pada 127.0.0.1:7860</a:t>
            </a:r>
            <a:endParaRPr sz="120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39AD2CC0-61EE-42D9-84B2-3CF9D3891AA5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1DEACE7B-1739-4C81-BED9-41CCEFF632A7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0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697480"/>
            <a:ext cx="292608" cy="292608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B993A3C2-6EAF-49D8-8850-74D4957F6B0D}"/>
              </a:ext>
            </a:extLst>
          </p:cNvPr>
          <p:cNvSpPr>
            <a:spLocks noGrp="1"/>
          </p:cNvSpPr>
          <p:nvPr/>
        </p:nvSpPr>
        <p:spPr>
          <a:xfrm>
            <a:off x="1207008" y="260604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sv-SE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Gradio Blocks menyajikan halaman web.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200400"/>
            <a:ext cx="292608" cy="292608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9F558DEE-51B4-41EE-AF8A-83EE748013D9}"/>
              </a:ext>
            </a:extLst>
          </p:cNvPr>
          <p:cNvSpPr>
            <a:spLocks noGrp="1"/>
          </p:cNvSpPr>
          <p:nvPr/>
        </p:nvSpPr>
        <p:spPr>
          <a:xfrm>
            <a:off x="1207008" y="310896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Mode awal = Baseline lokal.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4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703320"/>
            <a:ext cx="292608" cy="292608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CCBD09FF-8377-4C55-913D-4518EEC3F039}"/>
              </a:ext>
            </a:extLst>
          </p:cNvPr>
          <p:cNvSpPr>
            <a:spLocks noGrp="1"/>
          </p:cNvSpPr>
          <p:nvPr/>
        </p:nvSpPr>
        <p:spPr>
          <a:xfrm>
            <a:off x="1207008" y="361188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Ambang awal 0.5.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6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206240"/>
            <a:ext cx="292608" cy="292608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4197262A-344D-4D9E-8886-0F68EE0A9D3D}"/>
              </a:ext>
            </a:extLst>
          </p:cNvPr>
          <p:cNvSpPr>
            <a:spLocks noGrp="1"/>
          </p:cNvSpPr>
          <p:nvPr/>
        </p:nvSpPr>
        <p:spPr>
          <a:xfrm>
            <a:off x="1207008" y="411480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Examples mengisi contoh cepat.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8" name="Imag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4709160"/>
            <a:ext cx="292608" cy="292608"/>
          </a:xfrm>
          <a:prstGeom prst="rect">
            <a:avLst/>
          </a:prstGeom>
        </p:spPr>
      </p:pic>
      <p:sp>
        <p:nvSpPr>
          <p:cNvPr id="21" name="Text 12">
            <a:extLst>
              <a:ext uri="{FF2B5EF4-FFF2-40B4-BE49-F238E27FC236}">
                <a16:creationId xmlns:a16="http://schemas.microsoft.com/office/drawing/2014/main" id="{4BCCC600-E174-44E9-BA7E-E3D863EF3980}"/>
              </a:ext>
            </a:extLst>
          </p:cNvPr>
          <p:cNvSpPr>
            <a:spLocks noGrp="1"/>
          </p:cNvSpPr>
          <p:nvPr/>
        </p:nvSpPr>
        <p:spPr>
          <a:xfrm>
            <a:off x="1207008" y="461772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Klik Analisis memanggil analyze().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60" name="Imag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23" name="Text 13">
            <a:extLst>
              <a:ext uri="{FF2B5EF4-FFF2-40B4-BE49-F238E27FC236}">
                <a16:creationId xmlns:a16="http://schemas.microsoft.com/office/drawing/2014/main" id="{51C282E5-98A2-492C-A0FB-858F4827F279}"/>
              </a:ext>
            </a:extLst>
          </p:cNvPr>
          <p:cNvSpPr>
            <a:spLocks noGrp="1"/>
          </p:cNvSpPr>
          <p:nvPr/>
        </p:nvSpPr>
        <p:spPr>
          <a:xfrm>
            <a:off x="1207008" y="512064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Output awal kosong sebelum analisis.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62" name="Imag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" y="5715000"/>
            <a:ext cx="292608" cy="292608"/>
          </a:xfrm>
          <a:prstGeom prst="rect">
            <a:avLst/>
          </a:prstGeom>
        </p:spPr>
      </p:pic>
      <p:sp>
        <p:nvSpPr>
          <p:cNvPr id="25" name="Text 14">
            <a:extLst>
              <a:ext uri="{FF2B5EF4-FFF2-40B4-BE49-F238E27FC236}">
                <a16:creationId xmlns:a16="http://schemas.microsoft.com/office/drawing/2014/main" id="{B177279E-DD89-4D39-980E-854DCABC1443}"/>
              </a:ext>
            </a:extLst>
          </p:cNvPr>
          <p:cNvSpPr>
            <a:spLocks noGrp="1"/>
          </p:cNvSpPr>
          <p:nvPr/>
        </p:nvSpPr>
        <p:spPr>
          <a:xfrm>
            <a:off x="1207008" y="562356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Port 7860 hanya di host lokal.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C7B4490A-FFF5-41D3-9C52-A0C33420C96E}"/>
              </a:ext>
            </a:extLst>
          </p:cNvPr>
          <p:cNvSpPr>
            <a:spLocks noGrp="1"/>
          </p:cNvSpPr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002677"/>
          </a:solidFill>
          <a:ln w="12700">
            <a:solidFill>
              <a:srgbClr val="002677"/>
            </a:solidFill>
            <a:prstDash val="solid"/>
          </a:ln>
        </p:spPr>
        <p:txBody>
          <a:bodyPr/>
          <a:p/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20AA4EB3-BFF5-4F16-A7A7-B59505236308}"/>
              </a:ext>
            </a:extLst>
          </p:cNvPr>
          <p:cNvSpPr>
            <a:spLocks noGrp="1"/>
          </p:cNvSpPr>
          <p:nvPr/>
        </p:nvSpPr>
        <p:spPr>
          <a:xfrm>
            <a:off x="6446520" y="160020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A510FF9F-C5D6-4E2D-85B2-09BE823938C7}"/>
              </a:ext>
            </a:extLst>
          </p:cNvPr>
          <p:cNvSpPr>
            <a:spLocks noGrp="1"/>
          </p:cNvSpPr>
          <p:nvPr/>
        </p:nvSpPr>
        <p:spPr>
          <a:xfrm>
            <a:off x="6446520" y="2606040"/>
            <a:ext cx="5029200" cy="2743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AC58595B-EA01-4E90-92F0-726DDB18DDF6}"/>
              </a:ext>
            </a:extLst>
          </p:cNvPr>
          <p:cNvSpPr>
            <a:spLocks noGrp="1"/>
          </p:cNvSpPr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p/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1DD7F142-14F2-4CB5-A97B-19F12807B76A}"/>
              </a:ext>
            </a:extLst>
          </p:cNvPr>
          <p:cNvSpPr>
            <a:spLocks noGrp="1"/>
          </p:cNvSpPr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500" i="1">
                <a:solidFill>
                  <a:srgbClr val="FFFFFF"/>
                </a:solidFill>
                <a:latin typeface="Aptos" panose="020B0004020202020204" pitchFamily="34" charset="0"/>
                <a:ea typeface="Calibri"/>
                <a:cs typeface="Calibri"/>
              </a:rPr>
              <a:t>Textbox, Radio, Slider, dan Button terlihat.</a:t>
            </a:r>
            <a:endParaRPr sz="15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E1F2EE-0570-7C87-2FDA-2ED6913F90D7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422" y="2057400"/>
            <a:ext cx="4541396" cy="309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480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13CA0E8-BD3C-4B77-A362-5BB3C026EF4C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9</a:t>
            </a:r>
            <a:endParaRPr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33F754-2DF1-440B-BF5B-F9EEB4A4271A}"/>
              </a:ext>
            </a:extLst>
          </p:cNvPr>
          <p:cNvSpPr>
            <a:spLocks noGrp="1"/>
          </p:cNvSpPr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7</a:t>
            </a:r>
            <a:endParaRPr sz="9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E0F2E16-8FC0-42CD-AA36-90B973871BA0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p/>
        </p:txBody>
      </p:sp>
      <p:pic>
        <p:nvPicPr>
          <p:cNvPr id="2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30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59BB35C5-A7A0-4E15-A398-8EA043570C7F}"/>
              </a:ext>
            </a:extLst>
          </p:cNvPr>
          <p:cNvSpPr>
            <a:spLocks noGrp="1"/>
          </p:cNvSpPr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23F9ACF-A0B8-4B73-BEAF-65FEA8D61DF9}"/>
              </a:ext>
            </a:extLst>
          </p:cNvPr>
          <p:cNvSpPr>
            <a:spLocks noGrp="1"/>
          </p:cNvSpPr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3 | Uji positif dan negatif</a:t>
            </a:r>
            <a:endParaRPr sz="22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E7B68BB-0E8F-44B1-AD7C-738CB5298996}"/>
              </a:ext>
            </a:extLst>
          </p:cNvPr>
          <p:cNvSpPr>
            <a:spLocks noGrp="1"/>
          </p:cNvSpPr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it-IT"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Probabilitas model dipisah dari keputusan bisnis</a:t>
            </a:r>
            <a:endParaRPr sz="120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978AB542-6886-4C45-AD1A-0F0FF13E5B8A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F3486B06-1913-4E8F-8D6D-5CC310564514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5577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F75729D1-8074-4688-A12B-6570771445BC}"/>
              </a:ext>
            </a:extLst>
          </p:cNvPr>
          <p:cNvSpPr>
            <a:spLocks noGrp="1"/>
          </p:cNvSpPr>
          <p:nvPr/>
        </p:nvSpPr>
        <p:spPr>
          <a:xfrm>
            <a:off x="54864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4D9FB037-AD92-4BC5-9A37-1E321E4F27E7}"/>
              </a:ext>
            </a:extLst>
          </p:cNvPr>
          <p:cNvSpPr>
            <a:spLocks noGrp="1"/>
          </p:cNvSpPr>
          <p:nvPr/>
        </p:nvSpPr>
        <p:spPr>
          <a:xfrm>
            <a:off x="68580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11CD357B-578A-4CEF-973B-C506DEF3A613}"/>
              </a:ext>
            </a:extLst>
          </p:cNvPr>
          <p:cNvSpPr>
            <a:spLocks noGrp="1"/>
          </p:cNvSpPr>
          <p:nvPr/>
        </p:nvSpPr>
        <p:spPr>
          <a:xfrm>
            <a:off x="82296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0CFCEA9-E015-44A4-9A66-0C5562839F36}"/>
              </a:ext>
            </a:extLst>
          </p:cNvPr>
          <p:cNvSpPr>
            <a:spLocks noGrp="1"/>
          </p:cNvSpPr>
          <p:nvPr/>
        </p:nvSpPr>
        <p:spPr>
          <a:xfrm>
            <a:off x="1005840" y="141732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Dua input uji</a:t>
            </a:r>
            <a:endParaRPr sz="90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3745EB0B-3857-4878-A27C-F024329AB100}"/>
              </a:ext>
            </a:extLst>
          </p:cNvPr>
          <p:cNvSpPr>
            <a:spLocks noGrp="1"/>
          </p:cNvSpPr>
          <p:nvPr/>
        </p:nvSpPr>
        <p:spPr>
          <a:xfrm>
            <a:off x="594360" y="1783080"/>
            <a:ext cx="5303520" cy="42976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lang="en-US" sz="1500">
                <a:solidFill>
                  <a:srgbClr val="FFFFFF"/>
                </a:solidFill>
                <a:latin typeface="Consolas" panose="020B0609020204030204" pitchFamily="49" charset="0"/>
                <a:ea typeface="Consolas"/>
                <a:cs typeface="Consolas"/>
              </a:rPr>
              <a:t>"layanan ini cepat dan membantu"
"aplikasi sering gagal dibuka"
# Pilih Baseline lokal; ambang 0.5.
# Tekan Analisis untuk tiap input.</a:t>
            </a:r>
            <a:endParaRPr sz="15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BE1C12C1-5EF2-409F-A328-47830E30D944}"/>
              </a:ext>
            </a:extLst>
          </p:cNvPr>
          <p:cNvSpPr>
            <a:spLocks noGrp="1"/>
          </p:cNvSpPr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AC9362A5-765D-4427-A783-0EA8C7DDB742}"/>
              </a:ext>
            </a:extLst>
          </p:cNvPr>
          <p:cNvSpPr>
            <a:spLocks noGrp="1"/>
          </p:cNvSpPr>
          <p:nvPr/>
        </p:nvSpPr>
        <p:spPr>
          <a:xfrm>
            <a:off x="6217920" y="1417320"/>
            <a:ext cx="54864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5772F27A-5484-4A6C-B440-BA5A37ACF3A1}"/>
              </a:ext>
            </a:extLst>
          </p:cNvPr>
          <p:cNvSpPr>
            <a:spLocks noGrp="1"/>
          </p:cNvSpPr>
          <p:nvPr/>
        </p:nvSpPr>
        <p:spPr>
          <a:xfrm>
            <a:off x="630936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32FA81DE-CAE2-4517-8221-8A3357F3F408}"/>
              </a:ext>
            </a:extLst>
          </p:cNvPr>
          <p:cNvSpPr>
            <a:spLocks noGrp="1"/>
          </p:cNvSpPr>
          <p:nvPr/>
        </p:nvSpPr>
        <p:spPr>
          <a:xfrm>
            <a:off x="644652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3EC68879-B1A3-47E4-A146-53C188AF6149}"/>
              </a:ext>
            </a:extLst>
          </p:cNvPr>
          <p:cNvSpPr>
            <a:spLocks noGrp="1"/>
          </p:cNvSpPr>
          <p:nvPr/>
        </p:nvSpPr>
        <p:spPr>
          <a:xfrm>
            <a:off x="658368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A767BE49-3CCC-47D6-A3A8-62DC34BE60DA}"/>
              </a:ext>
            </a:extLst>
          </p:cNvPr>
          <p:cNvSpPr>
            <a:spLocks noGrp="1"/>
          </p:cNvSpPr>
          <p:nvPr/>
        </p:nvSpPr>
        <p:spPr>
          <a:xfrm>
            <a:off x="6766560" y="14173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Kunci perhitungan</a:t>
            </a:r>
            <a:endParaRPr sz="90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2B7C91AB-2AC1-4178-A76B-91F132073C26}"/>
              </a:ext>
            </a:extLst>
          </p:cNvPr>
          <p:cNvSpPr>
            <a:spLocks noGrp="1"/>
          </p:cNvSpPr>
          <p:nvPr/>
        </p:nvSpPr>
        <p:spPr>
          <a:xfrm>
            <a:off x="6355080" y="1783080"/>
            <a:ext cx="5212080" cy="42976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lang="en-US" sz="1600">
                <a:solidFill>
                  <a:srgbClr val="FFFFFF"/>
                </a:solidFill>
                <a:latin typeface="Aptos" panose="020B0004020202020204" pitchFamily="34" charset="0"/>
                <a:ea typeface="Consolas"/>
                <a:cs typeface="Consolas"/>
              </a:rPr>
              <a:t>predict_proba menghasilkan dua skor.
decide(p_positive, threshold)
→ positive jika p &gt;= threshold.
Tabel token berisi frekuensi per kelas.
Angka 0.90 adalah skor model demo,
bukan kepastian sentimen sebenarnya.</a:t>
            </a:r>
            <a:endParaRPr sz="16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131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C960A9-602C-4D55-AA17-A15286FA159D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9</a:t>
            </a:r>
            <a:endParaRPr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13AED4-2391-47D0-9206-360588FA1D2E}"/>
              </a:ext>
            </a:extLst>
          </p:cNvPr>
          <p:cNvSpPr>
            <a:spLocks noGrp="1"/>
          </p:cNvSpPr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</a:t>
            </a:r>
            <a:endParaRPr sz="9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0F9DE12-2E19-4B8E-B6B5-229506FE52D6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p/>
        </p:txBody>
      </p:sp>
      <p:pic>
        <p:nvPicPr>
          <p:cNvPr id="4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4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B6AD358F-20C5-4F56-A575-6AF86DBE353F}"/>
              </a:ext>
            </a:extLst>
          </p:cNvPr>
          <p:cNvSpPr>
            <a:spLocks noGrp="1"/>
          </p:cNvSpPr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4FF1BE9-F166-485A-9C24-CA72E1679E38}"/>
              </a:ext>
            </a:extLst>
          </p:cNvPr>
          <p:cNvSpPr>
            <a:spLocks noGrp="1"/>
          </p:cNvSpPr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3 | Prediksi positif</a:t>
            </a:r>
            <a:endParaRPr sz="22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9D83C3F-92FF-40F8-8BF2-3617BA4D6782}"/>
              </a:ext>
            </a:extLst>
          </p:cNvPr>
          <p:cNvSpPr>
            <a:spLocks noGrp="1"/>
          </p:cNvSpPr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Contoh hasil untuk “layanan ini cepat dan membantu”</a:t>
            </a:r>
            <a:endParaRPr sz="120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39AD2CC0-61EE-42D9-84B2-3CF9D3891AA5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1DEACE7B-1739-4C81-BED9-41CCEFF632A7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0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697480"/>
            <a:ext cx="292608" cy="292608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B993A3C2-6EAF-49D8-8850-74D4957F6B0D}"/>
              </a:ext>
            </a:extLst>
          </p:cNvPr>
          <p:cNvSpPr>
            <a:spLocks noGrp="1"/>
          </p:cNvSpPr>
          <p:nvPr/>
        </p:nvSpPr>
        <p:spPr>
          <a:xfrm>
            <a:off x="1207008" y="260604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Label hasil = positive.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200400"/>
            <a:ext cx="292608" cy="292608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9F558DEE-51B4-41EE-AF8A-83EE748013D9}"/>
              </a:ext>
            </a:extLst>
          </p:cNvPr>
          <p:cNvSpPr>
            <a:spLocks noGrp="1"/>
          </p:cNvSpPr>
          <p:nvPr/>
        </p:nvSpPr>
        <p:spPr>
          <a:xfrm>
            <a:off x="1207008" y="310896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Skor positif sekitar 0.90.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4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703320"/>
            <a:ext cx="292608" cy="292608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CCBD09FF-8377-4C55-913D-4518EEC3F039}"/>
              </a:ext>
            </a:extLst>
          </p:cNvPr>
          <p:cNvSpPr>
            <a:spLocks noGrp="1"/>
          </p:cNvSpPr>
          <p:nvPr/>
        </p:nvSpPr>
        <p:spPr>
          <a:xfrm>
            <a:off x="1207008" y="361188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Detail memuat model dan threshold.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6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206240"/>
            <a:ext cx="292608" cy="292608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4197262A-344D-4D9E-8886-0F68EE0A9D3D}"/>
              </a:ext>
            </a:extLst>
          </p:cNvPr>
          <p:cNvSpPr>
            <a:spLocks noGrp="1"/>
          </p:cNvSpPr>
          <p:nvPr/>
        </p:nvSpPr>
        <p:spPr>
          <a:xfrm>
            <a:off x="1207008" y="411480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Tabel menunjukkan token input.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8" name="Imag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4709160"/>
            <a:ext cx="292608" cy="292608"/>
          </a:xfrm>
          <a:prstGeom prst="rect">
            <a:avLst/>
          </a:prstGeom>
        </p:spPr>
      </p:pic>
      <p:sp>
        <p:nvSpPr>
          <p:cNvPr id="21" name="Text 12">
            <a:extLst>
              <a:ext uri="{FF2B5EF4-FFF2-40B4-BE49-F238E27FC236}">
                <a16:creationId xmlns:a16="http://schemas.microsoft.com/office/drawing/2014/main" id="{4BCCC600-E174-44E9-BA7E-E3D863EF3980}"/>
              </a:ext>
            </a:extLst>
          </p:cNvPr>
          <p:cNvSpPr>
            <a:spLocks noGrp="1"/>
          </p:cNvSpPr>
          <p:nvPr/>
        </p:nvSpPr>
        <p:spPr>
          <a:xfrm>
            <a:off x="1207008" y="461772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Kata cepat/membantu membantu kelas +.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60" name="Imag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23" name="Text 13">
            <a:extLst>
              <a:ext uri="{FF2B5EF4-FFF2-40B4-BE49-F238E27FC236}">
                <a16:creationId xmlns:a16="http://schemas.microsoft.com/office/drawing/2014/main" id="{51C282E5-98A2-492C-A0FB-858F4827F279}"/>
              </a:ext>
            </a:extLst>
          </p:cNvPr>
          <p:cNvSpPr>
            <a:spLocks noGrp="1"/>
          </p:cNvSpPr>
          <p:nvPr/>
        </p:nvSpPr>
        <p:spPr>
          <a:xfrm>
            <a:off x="1207008" y="512064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sv-SE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Baca juga 24 sampel training.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62" name="Imag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" y="5715000"/>
            <a:ext cx="292608" cy="292608"/>
          </a:xfrm>
          <a:prstGeom prst="rect">
            <a:avLst/>
          </a:prstGeom>
        </p:spPr>
      </p:pic>
      <p:sp>
        <p:nvSpPr>
          <p:cNvPr id="25" name="Text 14">
            <a:extLst>
              <a:ext uri="{FF2B5EF4-FFF2-40B4-BE49-F238E27FC236}">
                <a16:creationId xmlns:a16="http://schemas.microsoft.com/office/drawing/2014/main" id="{B177279E-DD89-4D39-980E-854DCABC1443}"/>
              </a:ext>
            </a:extLst>
          </p:cNvPr>
          <p:cNvSpPr>
            <a:spLocks noGrp="1"/>
          </p:cNvSpPr>
          <p:nvPr/>
        </p:nvSpPr>
        <p:spPr>
          <a:xfrm>
            <a:off x="1207008" y="562356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it-IT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Catat hasil milik mesin sendiri.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C7B4490A-FFF5-41D3-9C52-A0C33420C96E}"/>
              </a:ext>
            </a:extLst>
          </p:cNvPr>
          <p:cNvSpPr>
            <a:spLocks noGrp="1"/>
          </p:cNvSpPr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002677"/>
          </a:solidFill>
          <a:ln w="12700">
            <a:solidFill>
              <a:srgbClr val="002677"/>
            </a:solidFill>
            <a:prstDash val="solid"/>
          </a:ln>
        </p:spPr>
        <p:txBody>
          <a:bodyPr/>
          <a:p/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20AA4EB3-BFF5-4F16-A7A7-B59505236308}"/>
              </a:ext>
            </a:extLst>
          </p:cNvPr>
          <p:cNvSpPr>
            <a:spLocks noGrp="1"/>
          </p:cNvSpPr>
          <p:nvPr/>
        </p:nvSpPr>
        <p:spPr>
          <a:xfrm>
            <a:off x="6446520" y="160020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A510FF9F-C5D6-4E2D-85B2-09BE823938C7}"/>
              </a:ext>
            </a:extLst>
          </p:cNvPr>
          <p:cNvSpPr>
            <a:spLocks noGrp="1"/>
          </p:cNvSpPr>
          <p:nvPr/>
        </p:nvSpPr>
        <p:spPr>
          <a:xfrm>
            <a:off x="6446520" y="2606040"/>
            <a:ext cx="5029200" cy="2743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AC58595B-EA01-4E90-92F0-726DDB18DDF6}"/>
              </a:ext>
            </a:extLst>
          </p:cNvPr>
          <p:cNvSpPr>
            <a:spLocks noGrp="1"/>
          </p:cNvSpPr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p/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1DD7F142-14F2-4CB5-A97B-19F12807B76A}"/>
              </a:ext>
            </a:extLst>
          </p:cNvPr>
          <p:cNvSpPr>
            <a:spLocks noGrp="1"/>
          </p:cNvSpPr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500" i="1">
                <a:solidFill>
                  <a:srgbClr val="FFFFFF"/>
                </a:solidFill>
                <a:latin typeface="Aptos" panose="020B0004020202020204" pitchFamily="34" charset="0"/>
                <a:ea typeface="Calibri"/>
                <a:cs typeface="Calibri"/>
              </a:rPr>
              <a:t>Input positif menghasilkan label positive.</a:t>
            </a:r>
            <a:endParaRPr sz="15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7F7185-BDD5-8487-BF96-7F6976F28A03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611" y="2057400"/>
            <a:ext cx="3521019" cy="309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421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C960A9-602C-4D55-AA17-A15286FA159D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9</a:t>
            </a:r>
            <a:endParaRPr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13AED4-2391-47D0-9206-360588FA1D2E}"/>
              </a:ext>
            </a:extLst>
          </p:cNvPr>
          <p:cNvSpPr>
            <a:spLocks noGrp="1"/>
          </p:cNvSpPr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</a:t>
            </a:r>
            <a:endParaRPr sz="9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0F9DE12-2E19-4B8E-B6B5-229506FE52D6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p/>
        </p:txBody>
      </p:sp>
      <p:pic>
        <p:nvPicPr>
          <p:cNvPr id="4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4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B6AD358F-20C5-4F56-A575-6AF86DBE353F}"/>
              </a:ext>
            </a:extLst>
          </p:cNvPr>
          <p:cNvSpPr>
            <a:spLocks noGrp="1"/>
          </p:cNvSpPr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4FF1BE9-F166-485A-9C24-CA72E1679E38}"/>
              </a:ext>
            </a:extLst>
          </p:cNvPr>
          <p:cNvSpPr>
            <a:spLocks noGrp="1"/>
          </p:cNvSpPr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4 | Prediksi negatif</a:t>
            </a:r>
            <a:endParaRPr sz="22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9D83C3F-92FF-40F8-8BF2-3617BA4D6782}"/>
              </a:ext>
            </a:extLst>
          </p:cNvPr>
          <p:cNvSpPr>
            <a:spLocks noGrp="1"/>
          </p:cNvSpPr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Bandingkan teks negatif pada model yang sama</a:t>
            </a:r>
            <a:endParaRPr sz="120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39AD2CC0-61EE-42D9-84B2-3CF9D3891AA5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1DEACE7B-1739-4C81-BED9-41CCEFF632A7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0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697480"/>
            <a:ext cx="292608" cy="292608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B993A3C2-6EAF-49D8-8850-74D4957F6B0D}"/>
              </a:ext>
            </a:extLst>
          </p:cNvPr>
          <p:cNvSpPr>
            <a:spLocks noGrp="1"/>
          </p:cNvSpPr>
          <p:nvPr/>
        </p:nvSpPr>
        <p:spPr>
          <a:xfrm>
            <a:off x="1207008" y="260604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Ganti teks tanpa restart app.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200400"/>
            <a:ext cx="292608" cy="292608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9F558DEE-51B4-41EE-AF8A-83EE748013D9}"/>
              </a:ext>
            </a:extLst>
          </p:cNvPr>
          <p:cNvSpPr>
            <a:spLocks noGrp="1"/>
          </p:cNvSpPr>
          <p:nvPr/>
        </p:nvSpPr>
        <p:spPr>
          <a:xfrm>
            <a:off x="1207008" y="310896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Label bergeser ke negative.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4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703320"/>
            <a:ext cx="292608" cy="292608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CCBD09FF-8377-4C55-913D-4518EEC3F039}"/>
              </a:ext>
            </a:extLst>
          </p:cNvPr>
          <p:cNvSpPr>
            <a:spLocks noGrp="1"/>
          </p:cNvSpPr>
          <p:nvPr/>
        </p:nvSpPr>
        <p:spPr>
          <a:xfrm>
            <a:off x="1207008" y="361188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Perhatikan skor dua kelas.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6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206240"/>
            <a:ext cx="292608" cy="292608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4197262A-344D-4D9E-8886-0F68EE0A9D3D}"/>
              </a:ext>
            </a:extLst>
          </p:cNvPr>
          <p:cNvSpPr>
            <a:spLocks noGrp="1"/>
          </p:cNvSpPr>
          <p:nvPr/>
        </p:nvSpPr>
        <p:spPr>
          <a:xfrm>
            <a:off x="1207008" y="411480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pt-BR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Kata gagal membantu kelas negatif.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8" name="Imag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4709160"/>
            <a:ext cx="292608" cy="292608"/>
          </a:xfrm>
          <a:prstGeom prst="rect">
            <a:avLst/>
          </a:prstGeom>
        </p:spPr>
      </p:pic>
      <p:sp>
        <p:nvSpPr>
          <p:cNvPr id="21" name="Text 12">
            <a:extLst>
              <a:ext uri="{FF2B5EF4-FFF2-40B4-BE49-F238E27FC236}">
                <a16:creationId xmlns:a16="http://schemas.microsoft.com/office/drawing/2014/main" id="{4BCCC600-E174-44E9-BA7E-E3D863EF3980}"/>
              </a:ext>
            </a:extLst>
          </p:cNvPr>
          <p:cNvSpPr>
            <a:spLocks noGrp="1"/>
          </p:cNvSpPr>
          <p:nvPr/>
        </p:nvSpPr>
        <p:spPr>
          <a:xfrm>
            <a:off x="1207008" y="461772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Prediksi bergantung data TSV.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60" name="Imag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23" name="Text 13">
            <a:extLst>
              <a:ext uri="{FF2B5EF4-FFF2-40B4-BE49-F238E27FC236}">
                <a16:creationId xmlns:a16="http://schemas.microsoft.com/office/drawing/2014/main" id="{51C282E5-98A2-492C-A0FB-858F4827F279}"/>
              </a:ext>
            </a:extLst>
          </p:cNvPr>
          <p:cNvSpPr>
            <a:spLocks noGrp="1"/>
          </p:cNvSpPr>
          <p:nvPr/>
        </p:nvSpPr>
        <p:spPr>
          <a:xfrm>
            <a:off x="1207008" y="512064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fi-FI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Coba variasi kalimat pekerjaan nyata.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62" name="Imag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" y="5715000"/>
            <a:ext cx="292608" cy="292608"/>
          </a:xfrm>
          <a:prstGeom prst="rect">
            <a:avLst/>
          </a:prstGeom>
        </p:spPr>
      </p:pic>
      <p:sp>
        <p:nvSpPr>
          <p:cNvPr id="25" name="Text 14">
            <a:extLst>
              <a:ext uri="{FF2B5EF4-FFF2-40B4-BE49-F238E27FC236}">
                <a16:creationId xmlns:a16="http://schemas.microsoft.com/office/drawing/2014/main" id="{B177279E-DD89-4D39-980E-854DCABC1443}"/>
              </a:ext>
            </a:extLst>
          </p:cNvPr>
          <p:cNvSpPr>
            <a:spLocks noGrp="1"/>
          </p:cNvSpPr>
          <p:nvPr/>
        </p:nvSpPr>
        <p:spPr>
          <a:xfrm>
            <a:off x="1207008" y="562356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nn-NO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Jangan jadikan baseline keputusan final.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C7B4490A-FFF5-41D3-9C52-A0C33420C96E}"/>
              </a:ext>
            </a:extLst>
          </p:cNvPr>
          <p:cNvSpPr>
            <a:spLocks noGrp="1"/>
          </p:cNvSpPr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002677"/>
          </a:solidFill>
          <a:ln w="12700">
            <a:solidFill>
              <a:srgbClr val="002677"/>
            </a:solidFill>
            <a:prstDash val="solid"/>
          </a:ln>
        </p:spPr>
        <p:txBody>
          <a:bodyPr/>
          <a:p/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20AA4EB3-BFF5-4F16-A7A7-B59505236308}"/>
              </a:ext>
            </a:extLst>
          </p:cNvPr>
          <p:cNvSpPr>
            <a:spLocks noGrp="1"/>
          </p:cNvSpPr>
          <p:nvPr/>
        </p:nvSpPr>
        <p:spPr>
          <a:xfrm>
            <a:off x="6446520" y="160020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A510FF9F-C5D6-4E2D-85B2-09BE823938C7}"/>
              </a:ext>
            </a:extLst>
          </p:cNvPr>
          <p:cNvSpPr>
            <a:spLocks noGrp="1"/>
          </p:cNvSpPr>
          <p:nvPr/>
        </p:nvSpPr>
        <p:spPr>
          <a:xfrm>
            <a:off x="6446520" y="2606040"/>
            <a:ext cx="5029200" cy="2743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AC58595B-EA01-4E90-92F0-726DDB18DDF6}"/>
              </a:ext>
            </a:extLst>
          </p:cNvPr>
          <p:cNvSpPr>
            <a:spLocks noGrp="1"/>
          </p:cNvSpPr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p/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1DD7F142-14F2-4CB5-A97B-19F12807B76A}"/>
              </a:ext>
            </a:extLst>
          </p:cNvPr>
          <p:cNvSpPr>
            <a:spLocks noGrp="1"/>
          </p:cNvSpPr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500" i="1">
                <a:solidFill>
                  <a:srgbClr val="FFFFFF"/>
                </a:solidFill>
                <a:latin typeface="Aptos" panose="020B0004020202020204" pitchFamily="34" charset="0"/>
                <a:ea typeface="Calibri"/>
                <a:cs typeface="Calibri"/>
              </a:rPr>
              <a:t>Input negatif menghasilkan label negative.</a:t>
            </a:r>
            <a:endParaRPr sz="15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E2CA43-500C-0793-2DC8-5609BD15E641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5620" y="2057400"/>
            <a:ext cx="3650999" cy="309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91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13CA0E8-BD3C-4B77-A362-5BB3C026EF4C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9</a:t>
            </a:r>
            <a:endParaRPr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33F754-2DF1-440B-BF5B-F9EEB4A4271A}"/>
              </a:ext>
            </a:extLst>
          </p:cNvPr>
          <p:cNvSpPr>
            <a:spLocks noGrp="1"/>
          </p:cNvSpPr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</a:t>
            </a:r>
            <a:endParaRPr sz="9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E0F2E16-8FC0-42CD-AA36-90B973871BA0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p/>
        </p:txBody>
      </p:sp>
      <p:pic>
        <p:nvPicPr>
          <p:cNvPr id="2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30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59BB35C5-A7A0-4E15-A398-8EA043570C7F}"/>
              </a:ext>
            </a:extLst>
          </p:cNvPr>
          <p:cNvSpPr>
            <a:spLocks noGrp="1"/>
          </p:cNvSpPr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23F9ACF-A0B8-4B73-BEAF-65FEA8D61DF9}"/>
              </a:ext>
            </a:extLst>
          </p:cNvPr>
          <p:cNvSpPr>
            <a:spLocks noGrp="1"/>
          </p:cNvSpPr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4 | Kunci challenge ambang dan kosong</a:t>
            </a:r>
            <a:endParaRPr sz="22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E7B68BB-0E8F-44B1-AD7C-738CB5298996}"/>
              </a:ext>
            </a:extLst>
          </p:cNvPr>
          <p:cNvSpPr>
            <a:spLocks noGrp="1"/>
          </p:cNvSpPr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Pisahkan probabilitas dari keputusan; validasi UI sebelum model</a:t>
            </a:r>
            <a:endParaRPr sz="120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978AB542-6886-4C45-AD1A-0F0FF13E5B8A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F3486B06-1913-4E8F-8D6D-5CC310564514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5577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F75729D1-8074-4688-A12B-6570771445BC}"/>
              </a:ext>
            </a:extLst>
          </p:cNvPr>
          <p:cNvSpPr>
            <a:spLocks noGrp="1"/>
          </p:cNvSpPr>
          <p:nvPr/>
        </p:nvSpPr>
        <p:spPr>
          <a:xfrm>
            <a:off x="54864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4D9FB037-AD92-4BC5-9A37-1E321E4F27E7}"/>
              </a:ext>
            </a:extLst>
          </p:cNvPr>
          <p:cNvSpPr>
            <a:spLocks noGrp="1"/>
          </p:cNvSpPr>
          <p:nvPr/>
        </p:nvSpPr>
        <p:spPr>
          <a:xfrm>
            <a:off x="68580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11CD357B-578A-4CEF-973B-C506DEF3A613}"/>
              </a:ext>
            </a:extLst>
          </p:cNvPr>
          <p:cNvSpPr>
            <a:spLocks noGrp="1"/>
          </p:cNvSpPr>
          <p:nvPr/>
        </p:nvSpPr>
        <p:spPr>
          <a:xfrm>
            <a:off x="82296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0CFCEA9-E015-44A4-9A66-0C5562839F36}"/>
              </a:ext>
            </a:extLst>
          </p:cNvPr>
          <p:cNvSpPr>
            <a:spLocks noGrp="1"/>
          </p:cNvSpPr>
          <p:nvPr/>
        </p:nvSpPr>
        <p:spPr>
          <a:xfrm>
            <a:off x="1005840" y="141732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Ubah ambang di web</a:t>
            </a:r>
            <a:endParaRPr sz="90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3745EB0B-3857-4878-A27C-F024329AB100}"/>
              </a:ext>
            </a:extLst>
          </p:cNvPr>
          <p:cNvSpPr>
            <a:spLocks noGrp="1"/>
          </p:cNvSpPr>
          <p:nvPr/>
        </p:nvSpPr>
        <p:spPr>
          <a:xfrm>
            <a:off x="594360" y="1783080"/>
            <a:ext cx="5303520" cy="42976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lang="en-US" sz="1500">
                <a:solidFill>
                  <a:srgbClr val="FFFFFF"/>
                </a:solidFill>
                <a:latin typeface="Consolas" panose="020B0609020204030204" pitchFamily="49" charset="0"/>
                <a:ea typeface="Consolas"/>
                <a:cs typeface="Consolas"/>
              </a:rPr>
              <a:t># Masukkan teks positif yang sama.
# Geser ambang dari 0.5 ke 0.9.
# Analisis ulang; amati decision.
# Kosongkan teks; klik Analisis.</a:t>
            </a:r>
            <a:endParaRPr sz="15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BE1C12C1-5EF2-409F-A328-47830E30D944}"/>
              </a:ext>
            </a:extLst>
          </p:cNvPr>
          <p:cNvSpPr>
            <a:spLocks noGrp="1"/>
          </p:cNvSpPr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AC9362A5-765D-4427-A783-0EA8C7DDB742}"/>
              </a:ext>
            </a:extLst>
          </p:cNvPr>
          <p:cNvSpPr>
            <a:spLocks noGrp="1"/>
          </p:cNvSpPr>
          <p:nvPr/>
        </p:nvSpPr>
        <p:spPr>
          <a:xfrm>
            <a:off x="6217920" y="1417320"/>
            <a:ext cx="54864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5772F27A-5484-4A6C-B440-BA5A37ACF3A1}"/>
              </a:ext>
            </a:extLst>
          </p:cNvPr>
          <p:cNvSpPr>
            <a:spLocks noGrp="1"/>
          </p:cNvSpPr>
          <p:nvPr/>
        </p:nvSpPr>
        <p:spPr>
          <a:xfrm>
            <a:off x="630936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32FA81DE-CAE2-4517-8221-8A3357F3F408}"/>
              </a:ext>
            </a:extLst>
          </p:cNvPr>
          <p:cNvSpPr>
            <a:spLocks noGrp="1"/>
          </p:cNvSpPr>
          <p:nvPr/>
        </p:nvSpPr>
        <p:spPr>
          <a:xfrm>
            <a:off x="644652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3EC68879-B1A3-47E4-A146-53C188AF6149}"/>
              </a:ext>
            </a:extLst>
          </p:cNvPr>
          <p:cNvSpPr>
            <a:spLocks noGrp="1"/>
          </p:cNvSpPr>
          <p:nvPr/>
        </p:nvSpPr>
        <p:spPr>
          <a:xfrm>
            <a:off x="658368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A767BE49-3CCC-47D6-A3A8-62DC34BE60DA}"/>
              </a:ext>
            </a:extLst>
          </p:cNvPr>
          <p:cNvSpPr>
            <a:spLocks noGrp="1"/>
          </p:cNvSpPr>
          <p:nvPr/>
        </p:nvSpPr>
        <p:spPr>
          <a:xfrm>
            <a:off x="6766560" y="14173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it-IT"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Kode inti dalam app.py/core.py</a:t>
            </a:r>
            <a:endParaRPr sz="90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2B7C91AB-2AC1-4178-A76B-91F132073C26}"/>
              </a:ext>
            </a:extLst>
          </p:cNvPr>
          <p:cNvSpPr>
            <a:spLocks noGrp="1"/>
          </p:cNvSpPr>
          <p:nvPr/>
        </p:nvSpPr>
        <p:spPr>
          <a:xfrm>
            <a:off x="6355080" y="1783080"/>
            <a:ext cx="5212080" cy="42976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lang="en-US" sz="1400">
                <a:solidFill>
                  <a:srgbClr val="FFFFFF"/>
                </a:solidFill>
                <a:latin typeface="Aptos" panose="020B0004020202020204" pitchFamily="34" charset="0"/>
                <a:ea typeface="Consolas"/>
                <a:cs typeface="Consolas"/>
              </a:rPr>
              <a:t>if not text.strip():
    return {}, {"error":
      "Masukkan teks terlebih dahulu."}, []
def decide(p, threshold):
    if p &gt;= threshold:
        return "positive"
    return "negative"
Ambang dapat ubah keputusan tanpa retrain.</a:t>
            </a:r>
            <a:endParaRPr sz="14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731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C960A9-602C-4D55-AA17-A15286FA159D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9</a:t>
            </a:r>
            <a:endParaRPr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13AED4-2391-47D0-9206-360588FA1D2E}"/>
              </a:ext>
            </a:extLst>
          </p:cNvPr>
          <p:cNvSpPr>
            <a:spLocks noGrp="1"/>
          </p:cNvSpPr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11</a:t>
            </a:r>
            <a:endParaRPr sz="9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0F9DE12-2E19-4B8E-B6B5-229506FE52D6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p/>
        </p:txBody>
      </p:sp>
      <p:pic>
        <p:nvPicPr>
          <p:cNvPr id="4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4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B6AD358F-20C5-4F56-A575-6AF86DBE353F}"/>
              </a:ext>
            </a:extLst>
          </p:cNvPr>
          <p:cNvSpPr>
            <a:spLocks noGrp="1"/>
          </p:cNvSpPr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4FF1BE9-F166-485A-9C24-CA72E1679E38}"/>
              </a:ext>
            </a:extLst>
          </p:cNvPr>
          <p:cNvSpPr>
            <a:spLocks noGrp="1"/>
          </p:cNvSpPr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5 | Ambang mengubah keputusan</a:t>
            </a:r>
            <a:endParaRPr sz="22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9D83C3F-92FF-40F8-8BF2-3617BA4D6782}"/>
              </a:ext>
            </a:extLst>
          </p:cNvPr>
          <p:cNvSpPr>
            <a:spLocks noGrp="1"/>
          </p:cNvSpPr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Teks sama, skor sama, aturan klasifikasi berubah</a:t>
            </a:r>
            <a:endParaRPr sz="120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39AD2CC0-61EE-42D9-84B2-3CF9D3891AA5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1DEACE7B-1739-4C81-BED9-41CCEFF632A7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0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697480"/>
            <a:ext cx="292608" cy="292608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B993A3C2-6EAF-49D8-8850-74D4957F6B0D}"/>
              </a:ext>
            </a:extLst>
          </p:cNvPr>
          <p:cNvSpPr>
            <a:spLocks noGrp="1"/>
          </p:cNvSpPr>
          <p:nvPr/>
        </p:nvSpPr>
        <p:spPr>
          <a:xfrm>
            <a:off x="1207008" y="260604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Geser Slider dari 0.5 ke 0.9.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200400"/>
            <a:ext cx="292608" cy="292608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9F558DEE-51B4-41EE-AF8A-83EE748013D9}"/>
              </a:ext>
            </a:extLst>
          </p:cNvPr>
          <p:cNvSpPr>
            <a:spLocks noGrp="1"/>
          </p:cNvSpPr>
          <p:nvPr/>
        </p:nvSpPr>
        <p:spPr>
          <a:xfrm>
            <a:off x="1207008" y="310896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nn-NO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Skor positive tetap sekitar 0.8986.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4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703320"/>
            <a:ext cx="292608" cy="292608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CCBD09FF-8377-4C55-913D-4518EEC3F039}"/>
              </a:ext>
            </a:extLst>
          </p:cNvPr>
          <p:cNvSpPr>
            <a:spLocks noGrp="1"/>
          </p:cNvSpPr>
          <p:nvPr/>
        </p:nvSpPr>
        <p:spPr>
          <a:xfrm>
            <a:off x="1207008" y="361188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JSON decision bergeser ke negative.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6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206240"/>
            <a:ext cx="292608" cy="292608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4197262A-344D-4D9E-8886-0F68EE0A9D3D}"/>
              </a:ext>
            </a:extLst>
          </p:cNvPr>
          <p:cNvSpPr>
            <a:spLocks noGrp="1"/>
          </p:cNvSpPr>
          <p:nvPr/>
        </p:nvSpPr>
        <p:spPr>
          <a:xfrm>
            <a:off x="1207008" y="411480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sv-SE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Grafik Label tetap menampilkan skor teratas.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8" name="Imag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4709160"/>
            <a:ext cx="292608" cy="292608"/>
          </a:xfrm>
          <a:prstGeom prst="rect">
            <a:avLst/>
          </a:prstGeom>
        </p:spPr>
      </p:pic>
      <p:sp>
        <p:nvSpPr>
          <p:cNvPr id="21" name="Text 12">
            <a:extLst>
              <a:ext uri="{FF2B5EF4-FFF2-40B4-BE49-F238E27FC236}">
                <a16:creationId xmlns:a16="http://schemas.microsoft.com/office/drawing/2014/main" id="{4BCCC600-E174-44E9-BA7E-E3D863EF3980}"/>
              </a:ext>
            </a:extLst>
          </p:cNvPr>
          <p:cNvSpPr>
            <a:spLocks noGrp="1"/>
          </p:cNvSpPr>
          <p:nvPr/>
        </p:nvSpPr>
        <p:spPr>
          <a:xfrm>
            <a:off x="1207008" y="461772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Field threshold merekam aturan baru.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60" name="Imag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23" name="Text 13">
            <a:extLst>
              <a:ext uri="{FF2B5EF4-FFF2-40B4-BE49-F238E27FC236}">
                <a16:creationId xmlns:a16="http://schemas.microsoft.com/office/drawing/2014/main" id="{51C282E5-98A2-492C-A0FB-858F4827F279}"/>
              </a:ext>
            </a:extLst>
          </p:cNvPr>
          <p:cNvSpPr>
            <a:spLocks noGrp="1"/>
          </p:cNvSpPr>
          <p:nvPr/>
        </p:nvSpPr>
        <p:spPr>
          <a:xfrm>
            <a:off x="1207008" y="512064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Uji juga input kosong: pesan validasi.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62" name="Imag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" y="5715000"/>
            <a:ext cx="292608" cy="292608"/>
          </a:xfrm>
          <a:prstGeom prst="rect">
            <a:avLst/>
          </a:prstGeom>
        </p:spPr>
      </p:pic>
      <p:sp>
        <p:nvSpPr>
          <p:cNvPr id="25" name="Text 14">
            <a:extLst>
              <a:ext uri="{FF2B5EF4-FFF2-40B4-BE49-F238E27FC236}">
                <a16:creationId xmlns:a16="http://schemas.microsoft.com/office/drawing/2014/main" id="{B177279E-DD89-4D39-980E-854DCABC1443}"/>
              </a:ext>
            </a:extLst>
          </p:cNvPr>
          <p:cNvSpPr>
            <a:spLocks noGrp="1"/>
          </p:cNvSpPr>
          <p:nvPr/>
        </p:nvSpPr>
        <p:spPr>
          <a:xfrm>
            <a:off x="1207008" y="562356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sv-SE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Bedakan skor model dari keputusan.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C7B4490A-FFF5-41D3-9C52-A0C33420C96E}"/>
              </a:ext>
            </a:extLst>
          </p:cNvPr>
          <p:cNvSpPr>
            <a:spLocks noGrp="1"/>
          </p:cNvSpPr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002677"/>
          </a:solidFill>
          <a:ln w="12700">
            <a:solidFill>
              <a:srgbClr val="002677"/>
            </a:solidFill>
            <a:prstDash val="solid"/>
          </a:ln>
        </p:spPr>
        <p:txBody>
          <a:bodyPr/>
          <a:p/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20AA4EB3-BFF5-4F16-A7A7-B59505236308}"/>
              </a:ext>
            </a:extLst>
          </p:cNvPr>
          <p:cNvSpPr>
            <a:spLocks noGrp="1"/>
          </p:cNvSpPr>
          <p:nvPr/>
        </p:nvSpPr>
        <p:spPr>
          <a:xfrm>
            <a:off x="6446520" y="160020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A510FF9F-C5D6-4E2D-85B2-09BE823938C7}"/>
              </a:ext>
            </a:extLst>
          </p:cNvPr>
          <p:cNvSpPr>
            <a:spLocks noGrp="1"/>
          </p:cNvSpPr>
          <p:nvPr/>
        </p:nvSpPr>
        <p:spPr>
          <a:xfrm>
            <a:off x="6446520" y="2606040"/>
            <a:ext cx="5029200" cy="2743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AC58595B-EA01-4E90-92F0-726DDB18DDF6}"/>
              </a:ext>
            </a:extLst>
          </p:cNvPr>
          <p:cNvSpPr>
            <a:spLocks noGrp="1"/>
          </p:cNvSpPr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p/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1DD7F142-14F2-4CB5-A97B-19F12807B76A}"/>
              </a:ext>
            </a:extLst>
          </p:cNvPr>
          <p:cNvSpPr>
            <a:spLocks noGrp="1"/>
          </p:cNvSpPr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500" i="1">
                <a:solidFill>
                  <a:srgbClr val="FFFFFF"/>
                </a:solidFill>
                <a:latin typeface="Aptos" panose="020B0004020202020204" pitchFamily="34" charset="0"/>
                <a:ea typeface="Calibri"/>
                <a:cs typeface="Calibri"/>
              </a:rPr>
              <a:t>JSON decision berubah walau grafik skor tetap positive.</a:t>
            </a:r>
            <a:endParaRPr sz="15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B7B996-0A79-71C5-59B1-557178007237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611" y="2057400"/>
            <a:ext cx="3521019" cy="309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800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C960A9-602C-4D55-AA17-A15286FA159D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9</a:t>
            </a:r>
            <a:endParaRPr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13AED4-2391-47D0-9206-360588FA1D2E}"/>
              </a:ext>
            </a:extLst>
          </p:cNvPr>
          <p:cNvSpPr>
            <a:spLocks noGrp="1"/>
          </p:cNvSpPr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12</a:t>
            </a:r>
            <a:endParaRPr sz="9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0F9DE12-2E19-4B8E-B6B5-229506FE52D6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p/>
        </p:txBody>
      </p:sp>
      <p:pic>
        <p:nvPicPr>
          <p:cNvPr id="4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4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B6AD358F-20C5-4F56-A575-6AF86DBE353F}"/>
              </a:ext>
            </a:extLst>
          </p:cNvPr>
          <p:cNvSpPr>
            <a:spLocks noGrp="1"/>
          </p:cNvSpPr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4FF1BE9-F166-485A-9C24-CA72E1679E38}"/>
              </a:ext>
            </a:extLst>
          </p:cNvPr>
          <p:cNvSpPr>
            <a:spLocks noGrp="1"/>
          </p:cNvSpPr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6 | Input kosong ditangani</a:t>
            </a:r>
            <a:endParaRPr sz="22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9D83C3F-92FF-40F8-8BF2-3617BA4D6782}"/>
              </a:ext>
            </a:extLst>
          </p:cNvPr>
          <p:cNvSpPr>
            <a:spLocks noGrp="1"/>
          </p:cNvSpPr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Form tetap responsif ketika teks tidak dapat dianalisis</a:t>
            </a:r>
            <a:endParaRPr sz="120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39AD2CC0-61EE-42D9-84B2-3CF9D3891AA5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1DEACE7B-1739-4C81-BED9-41CCEFF632A7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0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697480"/>
            <a:ext cx="292608" cy="292608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B993A3C2-6EAF-49D8-8850-74D4957F6B0D}"/>
              </a:ext>
            </a:extLst>
          </p:cNvPr>
          <p:cNvSpPr>
            <a:spLocks noGrp="1"/>
          </p:cNvSpPr>
          <p:nvPr/>
        </p:nvSpPr>
        <p:spPr>
          <a:xfrm>
            <a:off x="1207008" y="260604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nl-NL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Hapus seluruh teks dan spasi.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200400"/>
            <a:ext cx="292608" cy="292608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9F558DEE-51B4-41EE-AF8A-83EE748013D9}"/>
              </a:ext>
            </a:extLst>
          </p:cNvPr>
          <p:cNvSpPr>
            <a:spLocks noGrp="1"/>
          </p:cNvSpPr>
          <p:nvPr/>
        </p:nvSpPr>
        <p:spPr>
          <a:xfrm>
            <a:off x="1207008" y="310896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Klik Analisis.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4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703320"/>
            <a:ext cx="292608" cy="292608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CCBD09FF-8377-4C55-913D-4518EEC3F039}"/>
              </a:ext>
            </a:extLst>
          </p:cNvPr>
          <p:cNvSpPr>
            <a:spLocks noGrp="1"/>
          </p:cNvSpPr>
          <p:nvPr/>
        </p:nvSpPr>
        <p:spPr>
          <a:xfrm>
            <a:off x="1207008" y="361188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analyze() berhenti sebelum prediksi.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6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206240"/>
            <a:ext cx="292608" cy="292608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4197262A-344D-4D9E-8886-0F68EE0A9D3D}"/>
              </a:ext>
            </a:extLst>
          </p:cNvPr>
          <p:cNvSpPr>
            <a:spLocks noGrp="1"/>
          </p:cNvSpPr>
          <p:nvPr/>
        </p:nvSpPr>
        <p:spPr>
          <a:xfrm>
            <a:off x="1207008" y="411480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nl-NL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Label kosong dan JSON berisi error.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8" name="Imag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4709160"/>
            <a:ext cx="292608" cy="292608"/>
          </a:xfrm>
          <a:prstGeom prst="rect">
            <a:avLst/>
          </a:prstGeom>
        </p:spPr>
      </p:pic>
      <p:sp>
        <p:nvSpPr>
          <p:cNvPr id="21" name="Text 12">
            <a:extLst>
              <a:ext uri="{FF2B5EF4-FFF2-40B4-BE49-F238E27FC236}">
                <a16:creationId xmlns:a16="http://schemas.microsoft.com/office/drawing/2014/main" id="{4BCCC600-E174-44E9-BA7E-E3D863EF3980}"/>
              </a:ext>
            </a:extLst>
          </p:cNvPr>
          <p:cNvSpPr>
            <a:spLocks noGrp="1"/>
          </p:cNvSpPr>
          <p:nvPr/>
        </p:nvSpPr>
        <p:spPr>
          <a:xfrm>
            <a:off x="1207008" y="461772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Server tidak crash.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60" name="Imag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23" name="Text 13">
            <a:extLst>
              <a:ext uri="{FF2B5EF4-FFF2-40B4-BE49-F238E27FC236}">
                <a16:creationId xmlns:a16="http://schemas.microsoft.com/office/drawing/2014/main" id="{51C282E5-98A2-492C-A0FB-858F4827F279}"/>
              </a:ext>
            </a:extLst>
          </p:cNvPr>
          <p:cNvSpPr>
            <a:spLocks noGrp="1"/>
          </p:cNvSpPr>
          <p:nvPr/>
        </p:nvSpPr>
        <p:spPr>
          <a:xfrm>
            <a:off x="1207008" y="512064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Validasi ini bagian kontrak UI.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62" name="Imag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" y="5715000"/>
            <a:ext cx="292608" cy="292608"/>
          </a:xfrm>
          <a:prstGeom prst="rect">
            <a:avLst/>
          </a:prstGeom>
        </p:spPr>
      </p:pic>
      <p:sp>
        <p:nvSpPr>
          <p:cNvPr id="25" name="Text 14">
            <a:extLst>
              <a:ext uri="{FF2B5EF4-FFF2-40B4-BE49-F238E27FC236}">
                <a16:creationId xmlns:a16="http://schemas.microsoft.com/office/drawing/2014/main" id="{B177279E-DD89-4D39-980E-854DCABC1443}"/>
              </a:ext>
            </a:extLst>
          </p:cNvPr>
          <p:cNvSpPr>
            <a:spLocks noGrp="1"/>
          </p:cNvSpPr>
          <p:nvPr/>
        </p:nvSpPr>
        <p:spPr>
          <a:xfrm>
            <a:off x="1207008" y="562356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Coba kembali teks yang sah.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C7B4490A-FFF5-41D3-9C52-A0C33420C96E}"/>
              </a:ext>
            </a:extLst>
          </p:cNvPr>
          <p:cNvSpPr>
            <a:spLocks noGrp="1"/>
          </p:cNvSpPr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002677"/>
          </a:solidFill>
          <a:ln w="12700">
            <a:solidFill>
              <a:srgbClr val="002677"/>
            </a:solidFill>
            <a:prstDash val="solid"/>
          </a:ln>
        </p:spPr>
        <p:txBody>
          <a:bodyPr/>
          <a:p/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20AA4EB3-BFF5-4F16-A7A7-B59505236308}"/>
              </a:ext>
            </a:extLst>
          </p:cNvPr>
          <p:cNvSpPr>
            <a:spLocks noGrp="1"/>
          </p:cNvSpPr>
          <p:nvPr/>
        </p:nvSpPr>
        <p:spPr>
          <a:xfrm>
            <a:off x="6446520" y="160020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A510FF9F-C5D6-4E2D-85B2-09BE823938C7}"/>
              </a:ext>
            </a:extLst>
          </p:cNvPr>
          <p:cNvSpPr>
            <a:spLocks noGrp="1"/>
          </p:cNvSpPr>
          <p:nvPr/>
        </p:nvSpPr>
        <p:spPr>
          <a:xfrm>
            <a:off x="6446520" y="2606040"/>
            <a:ext cx="5029200" cy="2743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AC58595B-EA01-4E90-92F0-726DDB18DDF6}"/>
              </a:ext>
            </a:extLst>
          </p:cNvPr>
          <p:cNvSpPr>
            <a:spLocks noGrp="1"/>
          </p:cNvSpPr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p/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1DD7F142-14F2-4CB5-A97B-19F12807B76A}"/>
              </a:ext>
            </a:extLst>
          </p:cNvPr>
          <p:cNvSpPr>
            <a:spLocks noGrp="1"/>
          </p:cNvSpPr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fi-FI" sz="1500" i="1">
                <a:solidFill>
                  <a:srgbClr val="FFFFFF"/>
                </a:solidFill>
                <a:latin typeface="Aptos" panose="020B0004020202020204" pitchFamily="34" charset="0"/>
                <a:ea typeface="Calibri"/>
                <a:cs typeface="Calibri"/>
              </a:rPr>
              <a:t>Pesan “Masukkan teks terlebih dahulu.” tampil.</a:t>
            </a:r>
            <a:endParaRPr sz="15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A6DB43-185B-1C6C-44BC-31526CCC53F0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22" y="2057400"/>
            <a:ext cx="4090595" cy="309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806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13CA0E8-BD3C-4B77-A362-5BB3C026EF4C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9</a:t>
            </a:r>
            <a:endParaRPr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33F754-2DF1-440B-BF5B-F9EEB4A4271A}"/>
              </a:ext>
            </a:extLst>
          </p:cNvPr>
          <p:cNvSpPr>
            <a:spLocks noGrp="1"/>
          </p:cNvSpPr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13</a:t>
            </a:r>
            <a:endParaRPr sz="9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E0F2E16-8FC0-42CD-AA36-90B973871BA0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p/>
        </p:txBody>
      </p:sp>
      <p:pic>
        <p:nvPicPr>
          <p:cNvPr id="2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30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59BB35C5-A7A0-4E15-A398-8EA043570C7F}"/>
              </a:ext>
            </a:extLst>
          </p:cNvPr>
          <p:cNvSpPr>
            <a:spLocks noGrp="1"/>
          </p:cNvSpPr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23F9ACF-A0B8-4B73-BEAF-65FEA8D61DF9}"/>
              </a:ext>
            </a:extLst>
          </p:cNvPr>
          <p:cNvSpPr>
            <a:spLocks noGrp="1"/>
          </p:cNvSpPr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it-IT"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5 | Space, DistilBERT, dan Git</a:t>
            </a:r>
            <a:endParaRPr sz="22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E7B68BB-0E8F-44B1-AD7C-738CB5298996}"/>
              </a:ext>
            </a:extLst>
          </p:cNvPr>
          <p:cNvSpPr>
            <a:spLocks noGrp="1"/>
          </p:cNvSpPr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Dua perluasan membutuhkan akses/resource tambahan</a:t>
            </a:r>
            <a:endParaRPr sz="120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978AB542-6886-4C45-AD1A-0F0FF13E5B8A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F3486B06-1913-4E8F-8D6D-5CC310564514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5577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F75729D1-8074-4688-A12B-6570771445BC}"/>
              </a:ext>
            </a:extLst>
          </p:cNvPr>
          <p:cNvSpPr>
            <a:spLocks noGrp="1"/>
          </p:cNvSpPr>
          <p:nvPr/>
        </p:nvSpPr>
        <p:spPr>
          <a:xfrm>
            <a:off x="54864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4D9FB037-AD92-4BC5-9A37-1E321E4F27E7}"/>
              </a:ext>
            </a:extLst>
          </p:cNvPr>
          <p:cNvSpPr>
            <a:spLocks noGrp="1"/>
          </p:cNvSpPr>
          <p:nvPr/>
        </p:nvSpPr>
        <p:spPr>
          <a:xfrm>
            <a:off x="68580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11CD357B-578A-4CEF-973B-C506DEF3A613}"/>
              </a:ext>
            </a:extLst>
          </p:cNvPr>
          <p:cNvSpPr>
            <a:spLocks noGrp="1"/>
          </p:cNvSpPr>
          <p:nvPr/>
        </p:nvSpPr>
        <p:spPr>
          <a:xfrm>
            <a:off x="82296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0CFCEA9-E015-44A4-9A66-0C5562839F36}"/>
              </a:ext>
            </a:extLst>
          </p:cNvPr>
          <p:cNvSpPr>
            <a:spLocks noGrp="1"/>
          </p:cNvSpPr>
          <p:nvPr/>
        </p:nvSpPr>
        <p:spPr>
          <a:xfrm>
            <a:off x="1005840" y="141732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Opsi model atau Space</a:t>
            </a:r>
            <a:endParaRPr sz="90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3745EB0B-3857-4878-A27C-F024329AB100}"/>
              </a:ext>
            </a:extLst>
          </p:cNvPr>
          <p:cNvSpPr>
            <a:spLocks noGrp="1"/>
          </p:cNvSpPr>
          <p:nvPr/>
        </p:nvSpPr>
        <p:spPr>
          <a:xfrm>
            <a:off x="594360" y="1783080"/>
            <a:ext cx="5303520" cy="42976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lang="en-US" sz="1500">
                <a:solidFill>
                  <a:srgbClr val="FFFFFF"/>
                </a:solidFill>
                <a:latin typeface="Consolas" panose="020B0609020204030204" pitchFamily="49" charset="0"/>
                <a:ea typeface="Consolas"/>
                <a:cs typeface="Consolas"/>
              </a:rPr>
              <a:t>.\.venv\Scripts\python -m pip install `
  -r requirements-transformer.txt
# Pilih DistilBERT English pada UI.
# Space: salin app.py, core.py,
# training.tsv, requirements.txt;
# SPACE_README.md → README.md.</a:t>
            </a:r>
            <a:endParaRPr sz="15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BE1C12C1-5EF2-409F-A328-47830E30D944}"/>
              </a:ext>
            </a:extLst>
          </p:cNvPr>
          <p:cNvSpPr>
            <a:spLocks noGrp="1"/>
          </p:cNvSpPr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AC9362A5-765D-4427-A783-0EA8C7DDB742}"/>
              </a:ext>
            </a:extLst>
          </p:cNvPr>
          <p:cNvSpPr>
            <a:spLocks noGrp="1"/>
          </p:cNvSpPr>
          <p:nvPr/>
        </p:nvSpPr>
        <p:spPr>
          <a:xfrm>
            <a:off x="6217920" y="1417320"/>
            <a:ext cx="54864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5772F27A-5484-4A6C-B440-BA5A37ACF3A1}"/>
              </a:ext>
            </a:extLst>
          </p:cNvPr>
          <p:cNvSpPr>
            <a:spLocks noGrp="1"/>
          </p:cNvSpPr>
          <p:nvPr/>
        </p:nvSpPr>
        <p:spPr>
          <a:xfrm>
            <a:off x="630936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32FA81DE-CAE2-4517-8221-8A3357F3F408}"/>
              </a:ext>
            </a:extLst>
          </p:cNvPr>
          <p:cNvSpPr>
            <a:spLocks noGrp="1"/>
          </p:cNvSpPr>
          <p:nvPr/>
        </p:nvSpPr>
        <p:spPr>
          <a:xfrm>
            <a:off x="644652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3EC68879-B1A3-47E4-A146-53C188AF6149}"/>
              </a:ext>
            </a:extLst>
          </p:cNvPr>
          <p:cNvSpPr>
            <a:spLocks noGrp="1"/>
          </p:cNvSpPr>
          <p:nvPr/>
        </p:nvSpPr>
        <p:spPr>
          <a:xfrm>
            <a:off x="658368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A767BE49-3CCC-47D6-A3A8-62DC34BE60DA}"/>
              </a:ext>
            </a:extLst>
          </p:cNvPr>
          <p:cNvSpPr>
            <a:spLocks noGrp="1"/>
          </p:cNvSpPr>
          <p:nvPr/>
        </p:nvSpPr>
        <p:spPr>
          <a:xfrm>
            <a:off x="6766560" y="14173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Git yang aman</a:t>
            </a:r>
            <a:endParaRPr sz="90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2B7C91AB-2AC1-4178-A76B-91F132073C26}"/>
              </a:ext>
            </a:extLst>
          </p:cNvPr>
          <p:cNvSpPr>
            <a:spLocks noGrp="1"/>
          </p:cNvSpPr>
          <p:nvPr/>
        </p:nvSpPr>
        <p:spPr>
          <a:xfrm>
            <a:off x="6355080" y="1783080"/>
            <a:ext cx="5212080" cy="42976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lang="en-US" sz="1600">
                <a:solidFill>
                  <a:srgbClr val="FFFFFF"/>
                </a:solidFill>
                <a:latin typeface="Aptos" panose="020B0004020202020204" pitchFamily="34" charset="0"/>
                <a:ea typeface="Consolas"/>
                <a:cs typeface="Consolas"/>
              </a:rPr>
              <a:t>git check-ignore .venv
git add app.py core.py training.tsv
git add requirements*.txt README.md
git diff --cached --check
git commit -m "lab09: Gradio baseline"
git push
Token HF tidak masuk commit.</a:t>
            </a:r>
            <a:endParaRPr sz="16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30954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>
            <a:extLst>
              <a:ext uri="{FF2B5EF4-FFF2-40B4-BE49-F238E27FC236}">
                <a16:creationId xmlns:a16="http://schemas.microsoft.com/office/drawing/2014/main" id="{7AC960A9-602C-4D55-AA17-A15286FA159D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9</a:t>
            </a:r>
            <a:endParaRPr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13AED4-2391-47D0-9206-360588FA1D2E}"/>
              </a:ext>
            </a:extLst>
          </p:cNvPr>
          <p:cNvSpPr>
            <a:spLocks noGrp="1"/>
          </p:cNvSpPr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14</a:t>
            </a:r>
            <a:endParaRPr sz="9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0F9DE12-2E19-4B8E-B6B5-229506FE52D6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p/>
        </p:txBody>
      </p:sp>
      <p:pic>
        <p:nvPicPr>
          <p:cNvPr id="4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44" name="Image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B6AD358F-20C5-4F56-A575-6AF86DBE353F}"/>
              </a:ext>
            </a:extLst>
          </p:cNvPr>
          <p:cNvSpPr>
            <a:spLocks noGrp="1"/>
          </p:cNvSpPr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4FF1BE9-F166-485A-9C24-CA72E1679E38}"/>
              </a:ext>
            </a:extLst>
          </p:cNvPr>
          <p:cNvSpPr>
            <a:spLocks noGrp="1"/>
          </p:cNvSpPr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7 | Repo materi di GitHub</a:t>
            </a:r>
            <a:endParaRPr sz="22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9D83C3F-92FF-40F8-8BF2-3617BA4D6782}"/>
              </a:ext>
            </a:extLst>
          </p:cNvPr>
          <p:cNvSpPr>
            <a:spLocks noGrp="1"/>
          </p:cNvSpPr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Source, modul PDF, slide, dan screenshot tersedia pada branch main</a:t>
            </a:r>
            <a:endParaRPr sz="120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39AD2CC0-61EE-42D9-84B2-3CF9D3891AA5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1DEACE7B-1739-4C81-BED9-41CCEFF632A7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0" name="Imag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2697480"/>
            <a:ext cx="292608" cy="292608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B993A3C2-6EAF-49D8-8850-74D4957F6B0D}"/>
              </a:ext>
            </a:extLst>
          </p:cNvPr>
          <p:cNvSpPr>
            <a:spLocks noGrp="1"/>
          </p:cNvSpPr>
          <p:nvPr/>
        </p:nvSpPr>
        <p:spPr>
          <a:xfrm>
            <a:off x="1207008" y="260604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nl-NL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git status --short memeriksa perubahan.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200400"/>
            <a:ext cx="292608" cy="292608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9F558DEE-51B4-41EE-AF8A-83EE748013D9}"/>
              </a:ext>
            </a:extLst>
          </p:cNvPr>
          <p:cNvSpPr>
            <a:spLocks noGrp="1"/>
          </p:cNvSpPr>
          <p:nvPr/>
        </p:nvSpPr>
        <p:spPr>
          <a:xfrm>
            <a:off x="1207008" y="310896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git add . menyiapkan berkas laporan.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4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703320"/>
            <a:ext cx="292608" cy="292608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CCBD09FF-8377-4C55-913D-4518EEC3F039}"/>
              </a:ext>
            </a:extLst>
          </p:cNvPr>
          <p:cNvSpPr>
            <a:spLocks noGrp="1"/>
          </p:cNvSpPr>
          <p:nvPr/>
        </p:nvSpPr>
        <p:spPr>
          <a:xfrm>
            <a:off x="1207008" y="361188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git diff --cached --check mengecek diff.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0"/>
            <a:ext cx="292608" cy="292608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4197262A-344D-4D9E-8886-0F68EE0A9D3D}"/>
              </a:ext>
            </a:extLst>
          </p:cNvPr>
          <p:cNvSpPr>
            <a:spLocks noGrp="1"/>
          </p:cNvSpPr>
          <p:nvPr/>
        </p:nvSpPr>
        <p:spPr>
          <a:xfrm>
            <a:off x="1207008" y="411480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nl-NL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git commit mencatat versi pekerjaan.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58" name="Image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" y="4709160"/>
            <a:ext cx="292608" cy="292608"/>
          </a:xfrm>
          <a:prstGeom prst="rect">
            <a:avLst/>
          </a:prstGeom>
        </p:spPr>
      </p:pic>
      <p:sp>
        <p:nvSpPr>
          <p:cNvPr id="21" name="Text 12">
            <a:extLst>
              <a:ext uri="{FF2B5EF4-FFF2-40B4-BE49-F238E27FC236}">
                <a16:creationId xmlns:a16="http://schemas.microsoft.com/office/drawing/2014/main" id="{4BCCC600-E174-44E9-BA7E-E3D863EF3980}"/>
              </a:ext>
            </a:extLst>
          </p:cNvPr>
          <p:cNvSpPr>
            <a:spLocks noGrp="1"/>
          </p:cNvSpPr>
          <p:nvPr/>
        </p:nvSpPr>
        <p:spPr>
          <a:xfrm>
            <a:off x="1207008" y="461772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git push mengirim commit ke GitHub.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60" name="Imag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23" name="Text 13">
            <a:extLst>
              <a:ext uri="{FF2B5EF4-FFF2-40B4-BE49-F238E27FC236}">
                <a16:creationId xmlns:a16="http://schemas.microsoft.com/office/drawing/2014/main" id="{51C282E5-98A2-492C-A0FB-858F4827F279}"/>
              </a:ext>
            </a:extLst>
          </p:cNvPr>
          <p:cNvSpPr>
            <a:spLocks noGrp="1"/>
          </p:cNvSpPr>
          <p:nvPr/>
        </p:nvSpPr>
        <p:spPr>
          <a:xfrm>
            <a:off x="1207008" y="512064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Repo materi publik bertanda template.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62" name="Imag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15000"/>
            <a:ext cx="292608" cy="292608"/>
          </a:xfrm>
          <a:prstGeom prst="rect">
            <a:avLst/>
          </a:prstGeom>
        </p:spPr>
      </p:pic>
      <p:sp>
        <p:nvSpPr>
          <p:cNvPr id="25" name="Text 14">
            <a:extLst>
              <a:ext uri="{FF2B5EF4-FFF2-40B4-BE49-F238E27FC236}">
                <a16:creationId xmlns:a16="http://schemas.microsoft.com/office/drawing/2014/main" id="{B177279E-DD89-4D39-980E-854DCABC1443}"/>
              </a:ext>
            </a:extLst>
          </p:cNvPr>
          <p:cNvSpPr>
            <a:spLocks noGrp="1"/>
          </p:cNvSpPr>
          <p:nvPr/>
        </p:nvSpPr>
        <p:spPr>
          <a:xfrm>
            <a:off x="1207008" y="562356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/>
                <a:cs typeface="Calibri"/>
              </a:rPr>
              <a:t>Mahasiswa tetap memakai repo miliknya.</a:t>
            </a:r>
            <a:endParaRPr sz="140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C7B4490A-FFF5-41D3-9C52-A0C33420C96E}"/>
              </a:ext>
            </a:extLst>
          </p:cNvPr>
          <p:cNvSpPr>
            <a:spLocks noGrp="1"/>
          </p:cNvSpPr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002677"/>
          </a:solidFill>
          <a:ln w="12700">
            <a:solidFill>
              <a:srgbClr val="002677"/>
            </a:solidFill>
            <a:prstDash val="solid"/>
          </a:ln>
        </p:spPr>
        <p:txBody>
          <a:bodyPr/>
          <a:p/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20AA4EB3-BFF5-4F16-A7A7-B59505236308}"/>
              </a:ext>
            </a:extLst>
          </p:cNvPr>
          <p:cNvSpPr>
            <a:spLocks noGrp="1"/>
          </p:cNvSpPr>
          <p:nvPr/>
        </p:nvSpPr>
        <p:spPr>
          <a:xfrm>
            <a:off x="6446520" y="150876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A510FF9F-C5D6-4E2D-85B2-09BE823938C7}"/>
              </a:ext>
            </a:extLst>
          </p:cNvPr>
          <p:cNvSpPr>
            <a:spLocks noGrp="1"/>
          </p:cNvSpPr>
          <p:nvPr/>
        </p:nvSpPr>
        <p:spPr>
          <a:xfrm>
            <a:off x="6446520" y="2606040"/>
            <a:ext cx="5029200" cy="2743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AC58595B-EA01-4E90-92F0-726DDB18DDF6}"/>
              </a:ext>
            </a:extLst>
          </p:cNvPr>
          <p:cNvSpPr>
            <a:spLocks noGrp="1"/>
          </p:cNvSpPr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p/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1DD7F142-14F2-4CB5-A97B-19F12807B76A}"/>
              </a:ext>
            </a:extLst>
          </p:cNvPr>
          <p:cNvSpPr>
            <a:spLocks noGrp="1"/>
          </p:cNvSpPr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fi-FI" sz="1500" i="1">
                <a:solidFill>
                  <a:srgbClr val="FFFFFF"/>
                </a:solidFill>
                <a:latin typeface="Aptos" panose="020B0004020202020204" pitchFamily="34" charset="0"/>
                <a:ea typeface="Calibri"/>
                <a:cs typeface="Calibri"/>
              </a:rPr>
              <a:t>Halaman ini bukti repo materi; bukan push mahasiswa.</a:t>
            </a:r>
            <a:endParaRPr sz="15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63" name="Picture 62" descr="09_github_repo_aktua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54680" y="2057400"/>
            <a:ext cx="4612879" cy="3063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1240</Words>
  <Application>Microsoft Office PowerPoint</Application>
  <DocSecurity>0</DocSecurity>
  <PresentationFormat>Widescreen</PresentationFormat>
  <Paragraphs>154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Budi Juarto</cp:lastModifiedBy>
  <cp:revision>1</cp:revision>
  <dcterms:created xsi:type="dcterms:W3CDTF">2026-10-01T00:49:43Z</dcterms:created>
  <dcterms:modified xsi:type="dcterms:W3CDTF">2026-10-07T13:00:46Z</dcterms:modified>
</cp:coreProperties>
</file>