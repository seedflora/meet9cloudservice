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440278ded41b5" /><Relationship Type="http://schemas.openxmlformats.org/officeDocument/2006/relationships/extended-properties" Target="/docProps/app.xml" Id="R92cde71971084990" /><Relationship Type="http://schemas.openxmlformats.org/officeDocument/2006/relationships/officeDocument" Target="/ppt/presentation.xml" Id="R32aae0bea002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cf9283a3e64004"/>
  </p:sldMasterIdLst>
  <p:notesMasterIdLst>
    <p:notesMasterId xmlns:r="http://schemas.openxmlformats.org/officeDocument/2006/relationships" r:id="R5302bfa1583f4be8"/>
  </p:notesMasterIdLst>
  <p:sldIdLst>
    <p:sldId xmlns:r="http://schemas.openxmlformats.org/officeDocument/2006/relationships" id="256" r:id="R0c24c705ee9d4d37"/>
    <p:sldId xmlns:r="http://schemas.openxmlformats.org/officeDocument/2006/relationships" id="257" r:id="R624430a364d543d1"/>
    <p:sldId xmlns:r="http://schemas.openxmlformats.org/officeDocument/2006/relationships" id="258" r:id="R3a1a0812ddf146d8"/>
    <p:sldId xmlns:r="http://schemas.openxmlformats.org/officeDocument/2006/relationships" id="259" r:id="R1cd4b1e2b6b54bba"/>
    <p:sldId xmlns:r="http://schemas.openxmlformats.org/officeDocument/2006/relationships" id="260" r:id="R307c442a83e74b18"/>
    <p:sldId xmlns:r="http://schemas.openxmlformats.org/officeDocument/2006/relationships" id="261" r:id="Rde928c7eb9b74822"/>
    <p:sldId xmlns:r="http://schemas.openxmlformats.org/officeDocument/2006/relationships" id="262" r:id="Ra932ac330dbd4399"/>
    <p:sldId xmlns:r="http://schemas.openxmlformats.org/officeDocument/2006/relationships" id="263" r:id="R912bd25f640942fc"/>
    <p:sldId xmlns:r="http://schemas.openxmlformats.org/officeDocument/2006/relationships" id="264" r:id="R7fdea1a545a64d82"/>
    <p:sldId xmlns:r="http://schemas.openxmlformats.org/officeDocument/2006/relationships" id="265" r:id="R87d93d17e0f74a94"/>
    <p:sldId xmlns:r="http://schemas.openxmlformats.org/officeDocument/2006/relationships" id="266" r:id="Re95da72dab044f0c"/>
    <p:sldId xmlns:r="http://schemas.openxmlformats.org/officeDocument/2006/relationships" id="267" r:id="R39d575b24d6a4f7d"/>
    <p:sldId xmlns:r="http://schemas.openxmlformats.org/officeDocument/2006/relationships" id="268" r:id="R0bb68bc721db4ee4"/>
    <p:sldId xmlns:r="http://schemas.openxmlformats.org/officeDocument/2006/relationships" id="269" r:id="R9c83e2db1db94c30"/>
    <p:sldId xmlns:r="http://schemas.openxmlformats.org/officeDocument/2006/relationships" id="270" r:id="R57d3115ac64340c2"/>
    <p:sldId xmlns:r="http://schemas.openxmlformats.org/officeDocument/2006/relationships" id="271" r:id="R1107c02305244884"/>
    <p:sldId xmlns:r="http://schemas.openxmlformats.org/officeDocument/2006/relationships" id="272" r:id="R877002e15e144544"/>
    <p:sldId xmlns:r="http://schemas.openxmlformats.org/officeDocument/2006/relationships" id="273" r:id="R3c06d9d030784bcd"/>
    <p:sldId xmlns:r="http://schemas.openxmlformats.org/officeDocument/2006/relationships" id="274" r:id="R2cc12be7fe494284"/>
    <p:sldId xmlns:r="http://schemas.openxmlformats.org/officeDocument/2006/relationships" id="275" r:id="R20a99e660c764102"/>
    <p:sldId xmlns:r="http://schemas.openxmlformats.org/officeDocument/2006/relationships" id="276" r:id="R8d85d754ea76469f"/>
    <p:sldId xmlns:r="http://schemas.openxmlformats.org/officeDocument/2006/relationships" id="277" r:id="R00d8aff425764231"/>
    <p:sldId xmlns:r="http://schemas.openxmlformats.org/officeDocument/2006/relationships" id="278" r:id="R8e2624c13e8a4dbe"/>
    <p:sldId xmlns:r="http://schemas.openxmlformats.org/officeDocument/2006/relationships" id="279" r:id="Rf02a42cd55b14f9b"/>
    <p:sldId xmlns:r="http://schemas.openxmlformats.org/officeDocument/2006/relationships" id="280" r:id="R9834697bdba54673"/>
    <p:sldId xmlns:r="http://schemas.openxmlformats.org/officeDocument/2006/relationships" id="281" r:id="R18a84a427c0f4f81"/>
    <p:sldId xmlns:r="http://schemas.openxmlformats.org/officeDocument/2006/relationships" id="282" r:id="Ra2d7bd1f629e4182"/>
    <p:sldId xmlns:r="http://schemas.openxmlformats.org/officeDocument/2006/relationships" id="283" r:id="Rb5aba658efa64587"/>
    <p:sldId xmlns:r="http://schemas.openxmlformats.org/officeDocument/2006/relationships" id="284" r:id="R41be207eb0494eeb"/>
    <p:sldId xmlns:r="http://schemas.openxmlformats.org/officeDocument/2006/relationships" id="285" r:id="Raf41e309b666473d"/>
    <p:sldId xmlns:r="http://schemas.openxmlformats.org/officeDocument/2006/relationships" id="286" r:id="R9b5ff4737ea84cf8"/>
    <p:sldId xmlns:r="http://schemas.openxmlformats.org/officeDocument/2006/relationships" id="287" r:id="R5ddea617e1ea4d6c"/>
    <p:sldId xmlns:r="http://schemas.openxmlformats.org/officeDocument/2006/relationships" id="288" r:id="Rb69e82f89d91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6fbaa65104895" /><Relationship Type="http://schemas.openxmlformats.org/officeDocument/2006/relationships/slideMaster" Target="/ppt/slideMasters/slideMaster1.xml" Id="R68cf9283a3e64004" /><Relationship Type="http://schemas.openxmlformats.org/officeDocument/2006/relationships/notesMaster" Target="/ppt/notesMasters/notesMaster1.xml" Id="R5302bfa1583f4be8" /><Relationship Type="http://schemas.openxmlformats.org/officeDocument/2006/relationships/presProps" Target="/ppt/presProps.xml" Id="R047984b709f64f39" /><Relationship Type="http://schemas.openxmlformats.org/officeDocument/2006/relationships/viewProps" Target="/ppt/viewProps.xml" Id="R4f2af57d0a8c4d6f" /><Relationship Type="http://schemas.openxmlformats.org/officeDocument/2006/relationships/tableStyles" Target="/ppt/tableStyles.xml" Id="R81c34c3575374038" /><Relationship Type="http://schemas.openxmlformats.org/officeDocument/2006/relationships/slide" Target="/ppt/slides/slide1.xml" Id="R0c24c705ee9d4d37" /><Relationship Type="http://schemas.openxmlformats.org/officeDocument/2006/relationships/slide" Target="/ppt/slides/slide2.xml" Id="R624430a364d543d1" /><Relationship Type="http://schemas.openxmlformats.org/officeDocument/2006/relationships/slide" Target="/ppt/slides/slide3.xml" Id="R3a1a0812ddf146d8" /><Relationship Type="http://schemas.openxmlformats.org/officeDocument/2006/relationships/slide" Target="/ppt/slides/slide4.xml" Id="R1cd4b1e2b6b54bba" /><Relationship Type="http://schemas.openxmlformats.org/officeDocument/2006/relationships/slide" Target="/ppt/slides/slide5.xml" Id="R307c442a83e74b18" /><Relationship Type="http://schemas.openxmlformats.org/officeDocument/2006/relationships/slide" Target="/ppt/slides/slide6.xml" Id="Rde928c7eb9b74822" /><Relationship Type="http://schemas.openxmlformats.org/officeDocument/2006/relationships/slide" Target="/ppt/slides/slide7.xml" Id="Ra932ac330dbd4399" /><Relationship Type="http://schemas.openxmlformats.org/officeDocument/2006/relationships/slide" Target="/ppt/slides/slide8.xml" Id="R912bd25f640942fc" /><Relationship Type="http://schemas.openxmlformats.org/officeDocument/2006/relationships/slide" Target="/ppt/slides/slide9.xml" Id="R7fdea1a545a64d82" /><Relationship Type="http://schemas.openxmlformats.org/officeDocument/2006/relationships/slide" Target="/ppt/slides/slide10.xml" Id="R87d93d17e0f74a94" /><Relationship Type="http://schemas.openxmlformats.org/officeDocument/2006/relationships/slide" Target="/ppt/slides/slide11.xml" Id="Re95da72dab044f0c" /><Relationship Type="http://schemas.openxmlformats.org/officeDocument/2006/relationships/slide" Target="/ppt/slides/slide12.xml" Id="R39d575b24d6a4f7d" /><Relationship Type="http://schemas.openxmlformats.org/officeDocument/2006/relationships/slide" Target="/ppt/slides/slide13.xml" Id="R0bb68bc721db4ee4" /><Relationship Type="http://schemas.openxmlformats.org/officeDocument/2006/relationships/slide" Target="/ppt/slides/slide14.xml" Id="R9c83e2db1db94c30" /><Relationship Type="http://schemas.openxmlformats.org/officeDocument/2006/relationships/slide" Target="/ppt/slides/slide15.xml" Id="R57d3115ac64340c2" /><Relationship Type="http://schemas.openxmlformats.org/officeDocument/2006/relationships/slide" Target="/ppt/slides/slide16.xml" Id="R1107c02305244884" /><Relationship Type="http://schemas.openxmlformats.org/officeDocument/2006/relationships/slide" Target="/ppt/slides/slide17.xml" Id="R877002e15e144544" /><Relationship Type="http://schemas.openxmlformats.org/officeDocument/2006/relationships/slide" Target="/ppt/slides/slide18.xml" Id="R3c06d9d030784bcd" /><Relationship Type="http://schemas.openxmlformats.org/officeDocument/2006/relationships/slide" Target="/ppt/slides/slide19.xml" Id="R2cc12be7fe494284" /><Relationship Type="http://schemas.openxmlformats.org/officeDocument/2006/relationships/slide" Target="/ppt/slides/slide20.xml" Id="R20a99e660c764102" /><Relationship Type="http://schemas.openxmlformats.org/officeDocument/2006/relationships/slide" Target="/ppt/slides/slide21.xml" Id="R8d85d754ea76469f" /><Relationship Type="http://schemas.openxmlformats.org/officeDocument/2006/relationships/slide" Target="/ppt/slides/slide22.xml" Id="R00d8aff425764231" /><Relationship Type="http://schemas.openxmlformats.org/officeDocument/2006/relationships/slide" Target="/ppt/slides/slide23.xml" Id="R8e2624c13e8a4dbe" /><Relationship Type="http://schemas.openxmlformats.org/officeDocument/2006/relationships/slide" Target="/ppt/slides/slide24.xml" Id="Rf02a42cd55b14f9b" /><Relationship Type="http://schemas.openxmlformats.org/officeDocument/2006/relationships/slide" Target="/ppt/slides/slide25.xml" Id="R9834697bdba54673" /><Relationship Type="http://schemas.openxmlformats.org/officeDocument/2006/relationships/slide" Target="/ppt/slides/slide26.xml" Id="R18a84a427c0f4f81" /><Relationship Type="http://schemas.openxmlformats.org/officeDocument/2006/relationships/slide" Target="/ppt/slides/slide27.xml" Id="Ra2d7bd1f629e4182" /><Relationship Type="http://schemas.openxmlformats.org/officeDocument/2006/relationships/slide" Target="/ppt/slides/slide28.xml" Id="Rb5aba658efa64587" /><Relationship Type="http://schemas.openxmlformats.org/officeDocument/2006/relationships/slide" Target="/ppt/slides/slide29.xml" Id="R41be207eb0494eeb" /><Relationship Type="http://schemas.openxmlformats.org/officeDocument/2006/relationships/slide" Target="/ppt/slides/slide30.xml" Id="Raf41e309b666473d" /><Relationship Type="http://schemas.openxmlformats.org/officeDocument/2006/relationships/slide" Target="/ppt/slides/slide31.xml" Id="R9b5ff4737ea84cf8" /><Relationship Type="http://schemas.openxmlformats.org/officeDocument/2006/relationships/slide" Target="/ppt/slides/slide32.xml" Id="R5ddea617e1ea4d6c" /><Relationship Type="http://schemas.openxmlformats.org/officeDocument/2006/relationships/slide" Target="/ppt/slides/slide33.xml" Id="Rb69e82f89d91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293bdb35647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a6246b449d40dc" /><Relationship Type="http://schemas.openxmlformats.org/officeDocument/2006/relationships/notesMaster" Target="/ppt/notesMasters/notesMaster1.xml" Id="R20a5668d98ba44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6dc71e83a40ad" /><Relationship Type="http://schemas.openxmlformats.org/officeDocument/2006/relationships/notesMaster" Target="/ppt/notesMasters/notesMaster1.xml" Id="R8f0d398e5cf1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bc12974e74efb" /><Relationship Type="http://schemas.openxmlformats.org/officeDocument/2006/relationships/notesMaster" Target="/ppt/notesMasters/notesMaster1.xml" Id="Raaf963316a7343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fbf00a61fa4f1a" /><Relationship Type="http://schemas.openxmlformats.org/officeDocument/2006/relationships/notesMaster" Target="/ppt/notesMasters/notesMaster1.xml" Id="R9b811eacd9fe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0cdcaf7c1241ea" /><Relationship Type="http://schemas.openxmlformats.org/officeDocument/2006/relationships/notesMaster" Target="/ppt/notesMasters/notesMaster1.xml" Id="R58deba4be73f49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ee69c493cb43c5" /><Relationship Type="http://schemas.openxmlformats.org/officeDocument/2006/relationships/notesMaster" Target="/ppt/notesMasters/notesMaster1.xml" Id="Rea3280a58f8a47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9df55943914be1" /><Relationship Type="http://schemas.openxmlformats.org/officeDocument/2006/relationships/notesMaster" Target="/ppt/notesMasters/notesMaster1.xml" Id="Rb1900d30fc6f4b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e46b0a4d2f48d2" /><Relationship Type="http://schemas.openxmlformats.org/officeDocument/2006/relationships/notesMaster" Target="/ppt/notesMasters/notesMaster1.xml" Id="R6ab7ca1d227a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c4c557c9aa41ce" /><Relationship Type="http://schemas.openxmlformats.org/officeDocument/2006/relationships/notesMaster" Target="/ppt/notesMasters/notesMaster1.xml" Id="R29c924cd39ca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ad7f8488e441c9" /><Relationship Type="http://schemas.openxmlformats.org/officeDocument/2006/relationships/notesMaster" Target="/ppt/notesMasters/notesMaster1.xml" Id="R403507d29d204d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faa19b1c794dd0" /><Relationship Type="http://schemas.openxmlformats.org/officeDocument/2006/relationships/notesMaster" Target="/ppt/notesMasters/notesMaster1.xml" Id="Rabaa88690ff247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0e0e6df8740ba" /><Relationship Type="http://schemas.openxmlformats.org/officeDocument/2006/relationships/notesMaster" Target="/ppt/notesMasters/notesMaster1.xml" Id="Re14e5160a6204a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ee213b728345a9" /><Relationship Type="http://schemas.openxmlformats.org/officeDocument/2006/relationships/notesMaster" Target="/ppt/notesMasters/notesMaster1.xml" Id="R875f77ac2b624b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36c22de898405b" /><Relationship Type="http://schemas.openxmlformats.org/officeDocument/2006/relationships/notesMaster" Target="/ppt/notesMasters/notesMaster1.xml" Id="Rd67ce8c4e6f342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731a4af3344dc9" /><Relationship Type="http://schemas.openxmlformats.org/officeDocument/2006/relationships/notesMaster" Target="/ppt/notesMasters/notesMaster1.xml" Id="Rdb0d0ddcf89e4e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ed547548084dfb" /><Relationship Type="http://schemas.openxmlformats.org/officeDocument/2006/relationships/notesMaster" Target="/ppt/notesMasters/notesMaster1.xml" Id="Rc1e6b719b5fa43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cdfc9f8b5b476a" /><Relationship Type="http://schemas.openxmlformats.org/officeDocument/2006/relationships/notesMaster" Target="/ppt/notesMasters/notesMaster1.xml" Id="R29a1f4e7471a40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8172533f15450c" /><Relationship Type="http://schemas.openxmlformats.org/officeDocument/2006/relationships/notesMaster" Target="/ppt/notesMasters/notesMaster1.xml" Id="R6608d327f3a444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419b90f0374b93" /><Relationship Type="http://schemas.openxmlformats.org/officeDocument/2006/relationships/notesMaster" Target="/ppt/notesMasters/notesMaster1.xml" Id="R0e3b13c80b1144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f2f23906af4e89" /><Relationship Type="http://schemas.openxmlformats.org/officeDocument/2006/relationships/notesMaster" Target="/ppt/notesMasters/notesMaster1.xml" Id="R356d2a79191745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94dedc97f64932" /><Relationship Type="http://schemas.openxmlformats.org/officeDocument/2006/relationships/notesMaster" Target="/ppt/notesMasters/notesMaster1.xml" Id="R62fc08577c1940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88a5760f9e4db5" /><Relationship Type="http://schemas.openxmlformats.org/officeDocument/2006/relationships/notesMaster" Target="/ppt/notesMasters/notesMaster1.xml" Id="R2e7ed25fa1b24c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b4d2dcea8149f0" /><Relationship Type="http://schemas.openxmlformats.org/officeDocument/2006/relationships/notesMaster" Target="/ppt/notesMasters/notesMaster1.xml" Id="R78a9a7159e3440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e4bb4debd24ea5" /><Relationship Type="http://schemas.openxmlformats.org/officeDocument/2006/relationships/notesMaster" Target="/ppt/notesMasters/notesMaster1.xml" Id="R127ade3daf3a4ae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915cda194343d7" /><Relationship Type="http://schemas.openxmlformats.org/officeDocument/2006/relationships/notesMaster" Target="/ppt/notesMasters/notesMaster1.xml" Id="R8b0f26891b7f44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6d87ed12e142cd" /><Relationship Type="http://schemas.openxmlformats.org/officeDocument/2006/relationships/notesMaster" Target="/ppt/notesMasters/notesMaster1.xml" Id="Ra47da0640870453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9fb719382f4faa" /><Relationship Type="http://schemas.openxmlformats.org/officeDocument/2006/relationships/notesMaster" Target="/ppt/notesMasters/notesMaster1.xml" Id="R6fe0f722493b4a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07692d5cf98448c" /><Relationship Type="http://schemas.openxmlformats.org/officeDocument/2006/relationships/notesMaster" Target="/ppt/notesMasters/notesMaster1.xml" Id="R6076b032931a4b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314ed3878248a8" /><Relationship Type="http://schemas.openxmlformats.org/officeDocument/2006/relationships/notesMaster" Target="/ppt/notesMasters/notesMaster1.xml" Id="Rd3ae6a4b781644d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6aff2b28624388" /><Relationship Type="http://schemas.openxmlformats.org/officeDocument/2006/relationships/notesMaster" Target="/ppt/notesMasters/notesMaster1.xml" Id="Rab52eaba981a4e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e3b4b199e64c9c" /><Relationship Type="http://schemas.openxmlformats.org/officeDocument/2006/relationships/notesMaster" Target="/ppt/notesMasters/notesMaster1.xml" Id="R0ff4b1c320f444e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5b81de16f74f28" /><Relationship Type="http://schemas.openxmlformats.org/officeDocument/2006/relationships/notesMaster" Target="/ppt/notesMasters/notesMaster1.xml" Id="Re7887bf88c5c45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6978007dd784327" /><Relationship Type="http://schemas.openxmlformats.org/officeDocument/2006/relationships/notesMaster" Target="/ppt/notesMasters/notesMaster1.xml" Id="R33e9c864ff27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Periksa ulang harga dan kelayakan akun sebelum demo. CPU Basic $0/jam tidak berarti setiap akun bisa membuat Gradio/Docker Space.</a:t>
            </a:r>
            <a:endParaRPr/>
          </a:p>
          <a:p xmlns:a="http://schemas.openxmlformats.org/drawingml/2006/main">
            <a:r>
              <a:t>Sumber: https://huggingface.co/docs/hub/spaces-overview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09: https://github.com/SeedFlora/meet9CloudService</a:t>
            </a:r>
          </a:p>
          <a:p xmlns:a="http://schemas.openxmlformats.org/drawingml/2006/main">
            <a:r>
              <a:t>Syarat HF Spaces (diperiksa 8 Okt 2026): https://huggingface.co/docs/hub/spaces-overview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Sebelum Lab 09: demo ML yang bisa diuji</a:t>
            </a:r>
          </a:p>
          <a:p xmlns:a="http://schemas.openxmlformats.org/drawingml/2006/main">
            <a:r>
              <a:t>Kasus kerja: Kasus kerja: tim produk perlu memperlihatkan analisis sentimen keluhan kepada pemangku kepentingan tanpa meminta mereka memasang Python.</a:t>
            </a:r>
          </a:p>
          <a:p xmlns:a="http://schemas.openxmlformats.org/drawingml/2006/main">
            <a:r>
              <a:t>Aktivitas kelas: Lab 09: jalankan Gradio lokal, uji contoh kalimat positif dan negatif, catat latensi. Publikasikan kode di GitHub; Spaces hanya jika akses compute tersedia.</a:t>
            </a:r>
          </a:p>
          <a:p xmlns:a="http://schemas.openxmlformats.org/drawingml/2006/main">
            <a:r>
              <a:t>Artikel resmi: https://huggingface.co/docs/hub/spaces-overview</a:t>
            </a:r>
          </a:p>
          <a:p xmlns:a="http://schemas.openxmlformats.org/drawingml/2006/main">
            <a:r>
              <a:t>Video resmi: https://www.youtube-nocookie.com/embed/3bSVKNKb_PY</a:t>
            </a:r>
          </a:p>
          <a:p xmlns:a="http://schemas.openxmlformats.org/drawingml/2006/main">
            <a:r>
              <a:t>Pertanyaan diskusi: Diskusi: bila hosting compute tidak tersedia, bukti demo apa yang tetap dapat diverifikasi?</a:t>
            </a:r>
          </a:p>
          <a:p xmlns:a="http://schemas.openxmlformats.org/drawingml/2006/main">
            <a:r>
              <a:t>Screenshot output praktik aktual: https://github.com/SeedFlora/meet9CloudService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e364244c541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e64a8de194e1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ebf9fa1dd4a79" /><Relationship Type="http://schemas.openxmlformats.org/officeDocument/2006/relationships/slideLayout" Target="/ppt/slideLayouts/slideLayout1.xml" Id="Ra41907b615d04bf8" /><Relationship Type="http://schemas.openxmlformats.org/officeDocument/2006/relationships/slideLayout" Target="/ppt/slideLayouts/slideLayout2.xml" Id="Rbbc14f0431b642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1907b615d04bf8"/>
    <p:sldLayoutId xmlns:r="http://schemas.openxmlformats.org/officeDocument/2006/relationships" id="2147483650" r:id="Rbbc14f0431b642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bb48084914b34" /><Relationship Type="http://schemas.openxmlformats.org/officeDocument/2006/relationships/image" Target="/ppt/media/image.jpeg" Id="R92d27161db4847b7" /><Relationship Type="http://schemas.openxmlformats.org/officeDocument/2006/relationships/image" Target="/ppt/media/image.png" Id="R13f7a88fd80346e0" /><Relationship Type="http://schemas.openxmlformats.org/officeDocument/2006/relationships/image" Target="/ppt/media/image2.png" Id="R1c88a45dfd704b18" /><Relationship Type="http://schemas.openxmlformats.org/officeDocument/2006/relationships/notesSlide" Target="/ppt/notesSlides/notesSlide1.xml" Id="Rbc8b63094efa42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332df545d4c4e" /><Relationship Type="http://schemas.openxmlformats.org/officeDocument/2006/relationships/image" Target="/ppt/media/image.png" Id="R3341ccec23e44d79" /><Relationship Type="http://schemas.openxmlformats.org/officeDocument/2006/relationships/image" Target="/ppt/media/image2.png" Id="Raf7fa60aba404eda" /><Relationship Type="http://schemas.openxmlformats.org/officeDocument/2006/relationships/image" Target="/ppt/media/image3.png" Id="R6da2f04585ac4f2f" /><Relationship Type="http://schemas.openxmlformats.org/officeDocument/2006/relationships/image" Target="/ppt/media/image4.png" Id="Rb1ea8c3e68574351" /><Relationship Type="http://schemas.openxmlformats.org/officeDocument/2006/relationships/image" Target="/ppt/media/image5.png" Id="R5ba8576ca0da4852" /><Relationship Type="http://schemas.openxmlformats.org/officeDocument/2006/relationships/image" Target="/ppt/media/image6.png" Id="R2043a8ec0ff24237" /><Relationship Type="http://schemas.openxmlformats.org/officeDocument/2006/relationships/image" Target="/ppt/media/image7.png" Id="Rb7d4417df4004d42" /><Relationship Type="http://schemas.openxmlformats.org/officeDocument/2006/relationships/notesSlide" Target="/ppt/notesSlides/notesSlide2.xml" Id="R2c34b5cc9c0743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53e686b94e84" /><Relationship Type="http://schemas.openxmlformats.org/officeDocument/2006/relationships/image" Target="/ppt/media/image.png" Id="Ra5a384b9a6724418" /><Relationship Type="http://schemas.openxmlformats.org/officeDocument/2006/relationships/image" Target="/ppt/media/image2.png" Id="Rbb866f97741245ab" /><Relationship Type="http://schemas.openxmlformats.org/officeDocument/2006/relationships/image" Target="/ppt/media/image8.png" Id="R792414dc629444f1" /><Relationship Type="http://schemas.openxmlformats.org/officeDocument/2006/relationships/image" Target="/ppt/media/image9.png" Id="Rf072b90082cb403c" /><Relationship Type="http://schemas.openxmlformats.org/officeDocument/2006/relationships/image" Target="/ppt/media/image10.png" Id="Rc6b3866179aa443b" /><Relationship Type="http://schemas.openxmlformats.org/officeDocument/2006/relationships/image" Target="/ppt/media/image6.png" Id="R4996597506bb4030" /><Relationship Type="http://schemas.openxmlformats.org/officeDocument/2006/relationships/notesSlide" Target="/ppt/notesSlides/notesSlide3.xml" Id="R11558923035048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8619df4504b39" /><Relationship Type="http://schemas.openxmlformats.org/officeDocument/2006/relationships/image" Target="/ppt/media/image.png" Id="R4a85adc17d60489b" /><Relationship Type="http://schemas.openxmlformats.org/officeDocument/2006/relationships/image" Target="/ppt/media/image2.png" Id="Rfa14efeca38b4122" /><Relationship Type="http://schemas.openxmlformats.org/officeDocument/2006/relationships/notesSlide" Target="/ppt/notesSlides/notesSlide4.xml" Id="Rc27e35db8def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dfdf0caea42f2" /><Relationship Type="http://schemas.openxmlformats.org/officeDocument/2006/relationships/image" Target="/ppt/media/image.png" Id="Ra92917a4209b43d2" /><Relationship Type="http://schemas.openxmlformats.org/officeDocument/2006/relationships/image" Target="/ppt/media/image2.png" Id="R91e0bfe0567541a7" /><Relationship Type="http://schemas.openxmlformats.org/officeDocument/2006/relationships/image" Target="/ppt/media/image11.png" Id="Rc2d3b1fd34da4cce" /><Relationship Type="http://schemas.openxmlformats.org/officeDocument/2006/relationships/image" Target="/ppt/media/image6.png" Id="R8406f138d17e4ab1" /><Relationship Type="http://schemas.openxmlformats.org/officeDocument/2006/relationships/image" Target="/ppt/media/image12.png" Id="R113e51dd85544b83" /><Relationship Type="http://schemas.openxmlformats.org/officeDocument/2006/relationships/image" Target="/ppt/media/image13.png" Id="Rc061b43b32f04e65" /><Relationship Type="http://schemas.openxmlformats.org/officeDocument/2006/relationships/image" Target="/ppt/media/image5.png" Id="Rb9360c9d970b40b3" /><Relationship Type="http://schemas.openxmlformats.org/officeDocument/2006/relationships/image" Target="/ppt/media/image14.png" Id="R43942a2444ab4429" /><Relationship Type="http://schemas.openxmlformats.org/officeDocument/2006/relationships/notesSlide" Target="/ppt/notesSlides/notesSlide5.xml" Id="Rad1b2e5848fd45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70bfa2d8a4e76" /><Relationship Type="http://schemas.openxmlformats.org/officeDocument/2006/relationships/image" Target="/ppt/media/image.png" Id="Rafdb187be98d4d83" /><Relationship Type="http://schemas.openxmlformats.org/officeDocument/2006/relationships/image" Target="/ppt/media/image2.png" Id="R290ec947c8a54497" /><Relationship Type="http://schemas.openxmlformats.org/officeDocument/2006/relationships/notesSlide" Target="/ppt/notesSlides/notesSlide6.xml" Id="R8063a836090741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07e97be714064" /><Relationship Type="http://schemas.openxmlformats.org/officeDocument/2006/relationships/image" Target="/ppt/media/image.png" Id="R6ba515c3ce5b4d23" /><Relationship Type="http://schemas.openxmlformats.org/officeDocument/2006/relationships/image" Target="/ppt/media/image2.png" Id="Rfe31d3df67224bf7" /><Relationship Type="http://schemas.openxmlformats.org/officeDocument/2006/relationships/notesSlide" Target="/ppt/notesSlides/notesSlide7.xml" Id="R4dc7003175d4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a8a57ff114f0f" /><Relationship Type="http://schemas.openxmlformats.org/officeDocument/2006/relationships/image" Target="/ppt/media/image.png" Id="R8ea7acd238f440db" /><Relationship Type="http://schemas.openxmlformats.org/officeDocument/2006/relationships/image" Target="/ppt/media/image2.png" Id="Rf84474e3f0e44e66" /><Relationship Type="http://schemas.openxmlformats.org/officeDocument/2006/relationships/image" Target="/ppt/media/image9.png" Id="Rb918a628561b466a" /><Relationship Type="http://schemas.openxmlformats.org/officeDocument/2006/relationships/image" Target="/ppt/media/image13.png" Id="Rac10e351e49d4a9e" /><Relationship Type="http://schemas.openxmlformats.org/officeDocument/2006/relationships/image" Target="/ppt/media/image6.png" Id="R96e3659dada64757" /><Relationship Type="http://schemas.openxmlformats.org/officeDocument/2006/relationships/image" Target="/ppt/media/image5.png" Id="R3d9b24e3159244df" /><Relationship Type="http://schemas.openxmlformats.org/officeDocument/2006/relationships/notesSlide" Target="/ppt/notesSlides/notesSlide8.xml" Id="R04806e434500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7b4ba12d84793" /><Relationship Type="http://schemas.openxmlformats.org/officeDocument/2006/relationships/image" Target="/ppt/media/image.png" Id="R0cbad78597d34853" /><Relationship Type="http://schemas.openxmlformats.org/officeDocument/2006/relationships/image" Target="/ppt/media/image2.png" Id="R27dbc3cf1db9476e" /><Relationship Type="http://schemas.openxmlformats.org/officeDocument/2006/relationships/image" Target="/ppt/media/image15.png" Id="Rf3dd2f146ec741ff" /><Relationship Type="http://schemas.openxmlformats.org/officeDocument/2006/relationships/image" Target="/ppt/media/image5.png" Id="R3893d09a4dfd44d7" /><Relationship Type="http://schemas.openxmlformats.org/officeDocument/2006/relationships/image" Target="/ppt/media/image16.png" Id="Rc26d229a5de0408c" /><Relationship Type="http://schemas.openxmlformats.org/officeDocument/2006/relationships/image" Target="/ppt/media/image6.png" Id="Re3c131e0daa94414" /><Relationship Type="http://schemas.openxmlformats.org/officeDocument/2006/relationships/image" Target="/ppt/media/image17.png" Id="R536615af06c64d0a" /><Relationship Type="http://schemas.openxmlformats.org/officeDocument/2006/relationships/image" Target="/ppt/media/image12.png" Id="R2f45cd14918b4936" /><Relationship Type="http://schemas.openxmlformats.org/officeDocument/2006/relationships/notesSlide" Target="/ppt/notesSlides/notesSlide9.xml" Id="Rc81ad17205ef44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b9d691ad8439f" /><Relationship Type="http://schemas.openxmlformats.org/officeDocument/2006/relationships/image" Target="/ppt/media/image.png" Id="R1b35a8426bab4595" /><Relationship Type="http://schemas.openxmlformats.org/officeDocument/2006/relationships/image" Target="/ppt/media/image2.png" Id="R70f6ad3b93a04af6" /><Relationship Type="http://schemas.openxmlformats.org/officeDocument/2006/relationships/image" Target="/ppt/media/image10.png" Id="R2edc03a0f0fb4660" /><Relationship Type="http://schemas.openxmlformats.org/officeDocument/2006/relationships/image" Target="/ppt/media/image18.png" Id="R040ba86ca92940e6" /><Relationship Type="http://schemas.openxmlformats.org/officeDocument/2006/relationships/image" Target="/ppt/media/image19.png" Id="R926c6de584fb4a5e" /><Relationship Type="http://schemas.openxmlformats.org/officeDocument/2006/relationships/image" Target="/ppt/media/image15.png" Id="R74ce4c576d2b41be" /><Relationship Type="http://schemas.openxmlformats.org/officeDocument/2006/relationships/notesSlide" Target="/ppt/notesSlides/notesSlide10.xml" Id="Rac8c48f31d1f4d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6f9fe58d4f8f" /><Relationship Type="http://schemas.openxmlformats.org/officeDocument/2006/relationships/image" Target="/ppt/media/image.png" Id="R2332cba80f014f54" /><Relationship Type="http://schemas.openxmlformats.org/officeDocument/2006/relationships/image" Target="/ppt/media/image2.png" Id="R987a4bb364f54c86" /><Relationship Type="http://schemas.openxmlformats.org/officeDocument/2006/relationships/image" Target="/ppt/media/image9.png" Id="R42005c69fb87498d" /><Relationship Type="http://schemas.openxmlformats.org/officeDocument/2006/relationships/image" Target="/ppt/media/image20.png" Id="R590c0c19d0af4d92" /><Relationship Type="http://schemas.openxmlformats.org/officeDocument/2006/relationships/image" Target="/ppt/media/image21.png" Id="Re49e207bf8ed4437" /><Relationship Type="http://schemas.openxmlformats.org/officeDocument/2006/relationships/image" Target="/ppt/media/image12.png" Id="Re53d25128b984acb" /><Relationship Type="http://schemas.openxmlformats.org/officeDocument/2006/relationships/notesSlide" Target="/ppt/notesSlides/notesSlide11.xml" Id="Rd8b102caa94a45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03488a18847aa" /><Relationship Type="http://schemas.openxmlformats.org/officeDocument/2006/relationships/image" Target="/ppt/media/image.png" Id="Rdeeb1f1635f84080" /><Relationship Type="http://schemas.openxmlformats.org/officeDocument/2006/relationships/image" Target="/ppt/media/image2.png" Id="Rbfa35e6d8e074a35" /><Relationship Type="http://schemas.openxmlformats.org/officeDocument/2006/relationships/notesSlide" Target="/ppt/notesSlides/notesSlide12.xml" Id="Ra771d5abea084e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ac571be4d492a" /><Relationship Type="http://schemas.openxmlformats.org/officeDocument/2006/relationships/image" Target="/ppt/media/image.png" Id="R9d468692ce1e40a6" /><Relationship Type="http://schemas.openxmlformats.org/officeDocument/2006/relationships/image" Target="/ppt/media/image2.png" Id="Re5ef383ab0c6404f" /><Relationship Type="http://schemas.openxmlformats.org/officeDocument/2006/relationships/image" Target="/ppt/media/image10.png" Id="Rc770540cae434077" /><Relationship Type="http://schemas.openxmlformats.org/officeDocument/2006/relationships/image" Target="/ppt/media/image15.png" Id="Rac8407d848d74623" /><Relationship Type="http://schemas.openxmlformats.org/officeDocument/2006/relationships/image" Target="/ppt/media/image16.png" Id="Ree68e91ad7c14e4f" /><Relationship Type="http://schemas.openxmlformats.org/officeDocument/2006/relationships/image" Target="/ppt/media/image13.png" Id="Rda8ea165f8114c9a" /><Relationship Type="http://schemas.openxmlformats.org/officeDocument/2006/relationships/image" Target="/ppt/media/image6.png" Id="R7aff53ef617842b1" /><Relationship Type="http://schemas.openxmlformats.org/officeDocument/2006/relationships/image" Target="/ppt/media/image12.png" Id="R4259b8dcfcd84671" /><Relationship Type="http://schemas.openxmlformats.org/officeDocument/2006/relationships/image" Target="/ppt/media/image5.png" Id="Rb3462d7f2b204aec" /><Relationship Type="http://schemas.openxmlformats.org/officeDocument/2006/relationships/image" Target="/ppt/media/image22.png" Id="R305704c9e22f4160" /><Relationship Type="http://schemas.openxmlformats.org/officeDocument/2006/relationships/image" Target="/ppt/media/image17.png" Id="R7368dd2137594d1a" /><Relationship Type="http://schemas.openxmlformats.org/officeDocument/2006/relationships/image" Target="/ppt/media/image14.png" Id="R690d2f4c11944aed" /><Relationship Type="http://schemas.openxmlformats.org/officeDocument/2006/relationships/image" Target="/ppt/media/image23.png" Id="R3ee49e261f0d413c" /><Relationship Type="http://schemas.openxmlformats.org/officeDocument/2006/relationships/notesSlide" Target="/ppt/notesSlides/notesSlide13.xml" Id="R0aff2c7982e745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69bba93a84dbb" /><Relationship Type="http://schemas.openxmlformats.org/officeDocument/2006/relationships/image" Target="/ppt/media/image.png" Id="Rc99a23490fd443ea" /><Relationship Type="http://schemas.openxmlformats.org/officeDocument/2006/relationships/image" Target="/ppt/media/image2.png" Id="R960573ae68c44d92" /><Relationship Type="http://schemas.openxmlformats.org/officeDocument/2006/relationships/notesSlide" Target="/ppt/notesSlides/notesSlide14.xml" Id="R9905b779945046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5e49d7af94374" /><Relationship Type="http://schemas.openxmlformats.org/officeDocument/2006/relationships/image" Target="/ppt/media/image.png" Id="Rf8a335d597dc4728" /><Relationship Type="http://schemas.openxmlformats.org/officeDocument/2006/relationships/image" Target="/ppt/media/image2.png" Id="R7e232e5f1c6848a4" /><Relationship Type="http://schemas.openxmlformats.org/officeDocument/2006/relationships/notesSlide" Target="/ppt/notesSlides/notesSlide15.xml" Id="R7f2a450b442d40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77a3fa5854b40" /><Relationship Type="http://schemas.openxmlformats.org/officeDocument/2006/relationships/image" Target="/ppt/media/image.png" Id="R2b29ec9397474c45" /><Relationship Type="http://schemas.openxmlformats.org/officeDocument/2006/relationships/image" Target="/ppt/media/image2.png" Id="Rb3796b9197814ba4" /><Relationship Type="http://schemas.openxmlformats.org/officeDocument/2006/relationships/image" Target="/ppt/media/image22.png" Id="R3a5fc5611fa848b2" /><Relationship Type="http://schemas.openxmlformats.org/officeDocument/2006/relationships/image" Target="/ppt/media/image14.png" Id="Rf2321e42fc0044f1" /><Relationship Type="http://schemas.openxmlformats.org/officeDocument/2006/relationships/notesSlide" Target="/ppt/notesSlides/notesSlide16.xml" Id="R41752298048949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f0cba7bd4312" /><Relationship Type="http://schemas.openxmlformats.org/officeDocument/2006/relationships/image" Target="/ppt/media/image.png" Id="R62722a146f594600" /><Relationship Type="http://schemas.openxmlformats.org/officeDocument/2006/relationships/image" Target="/ppt/media/image2.png" Id="R3f84a6cc65e3443f" /><Relationship Type="http://schemas.openxmlformats.org/officeDocument/2006/relationships/image" Target="/ppt/media/image10.png" Id="R8fbe7ba2ad504a40" /><Relationship Type="http://schemas.openxmlformats.org/officeDocument/2006/relationships/image" Target="/ppt/media/image18.png" Id="Rb4f23993b06142e2" /><Relationship Type="http://schemas.openxmlformats.org/officeDocument/2006/relationships/notesSlide" Target="/ppt/notesSlides/notesSlide17.xml" Id="Rf89c9afd65af46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b1db491cf482c" /><Relationship Type="http://schemas.openxmlformats.org/officeDocument/2006/relationships/image" Target="/ppt/media/image.png" Id="R5202c83e89f649fe" /><Relationship Type="http://schemas.openxmlformats.org/officeDocument/2006/relationships/image" Target="/ppt/media/image2.png" Id="R011efc5fd7ef45f4" /><Relationship Type="http://schemas.openxmlformats.org/officeDocument/2006/relationships/notesSlide" Target="/ppt/notesSlides/notesSlide18.xml" Id="R2ad185ee92914c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be023264945b1" /><Relationship Type="http://schemas.openxmlformats.org/officeDocument/2006/relationships/image" Target="/ppt/media/image.png" Id="Rd04892c6b7694774" /><Relationship Type="http://schemas.openxmlformats.org/officeDocument/2006/relationships/image" Target="/ppt/media/image2.png" Id="R8cf43d1ac0e041cd" /><Relationship Type="http://schemas.openxmlformats.org/officeDocument/2006/relationships/notesSlide" Target="/ppt/notesSlides/notesSlide19.xml" Id="Rfb6be3fda9e142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5c19eba2a4749" /><Relationship Type="http://schemas.openxmlformats.org/officeDocument/2006/relationships/image" Target="/ppt/media/image.png" Id="R20c3588c2fca4929" /><Relationship Type="http://schemas.openxmlformats.org/officeDocument/2006/relationships/image" Target="/ppt/media/image2.png" Id="Rc7db84884ce6419d" /><Relationship Type="http://schemas.openxmlformats.org/officeDocument/2006/relationships/notesSlide" Target="/ppt/notesSlides/notesSlide20.xml" Id="Re06628c7b7f7461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c346931ff4fac" /><Relationship Type="http://schemas.openxmlformats.org/officeDocument/2006/relationships/image" Target="/ppt/media/image.png" Id="Rfae4a590040a49cf" /><Relationship Type="http://schemas.openxmlformats.org/officeDocument/2006/relationships/image" Target="/ppt/media/image2.png" Id="Rbd28f253138949af" /><Relationship Type="http://schemas.openxmlformats.org/officeDocument/2006/relationships/notesSlide" Target="/ppt/notesSlides/notesSlide21.xml" Id="Rd4b858ac6b1d4e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581543ecc4bf6" /><Relationship Type="http://schemas.openxmlformats.org/officeDocument/2006/relationships/image" Target="/ppt/media/image.png" Id="Refcdba491ddb4e58" /><Relationship Type="http://schemas.openxmlformats.org/officeDocument/2006/relationships/image" Target="/ppt/media/image2.png" Id="R563d47c2ed2b4ceb" /><Relationship Type="http://schemas.openxmlformats.org/officeDocument/2006/relationships/notesSlide" Target="/ppt/notesSlides/notesSlide22.xml" Id="R7a9b0a51bc674c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736e0d5f54978" /><Relationship Type="http://schemas.openxmlformats.org/officeDocument/2006/relationships/image" Target="/ppt/media/image.png" Id="Rf3e6d8afcaf54500" /><Relationship Type="http://schemas.openxmlformats.org/officeDocument/2006/relationships/image" Target="/ppt/media/image2.png" Id="R79ce4b13c77742d5" /><Relationship Type="http://schemas.openxmlformats.org/officeDocument/2006/relationships/notesSlide" Target="/ppt/notesSlides/notesSlide23.xml" Id="Race2a51cfffa4e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cf93c3fe0460c" /><Relationship Type="http://schemas.openxmlformats.org/officeDocument/2006/relationships/image" Target="/ppt/media/image.png" Id="Ra5030e72f79b46ae" /><Relationship Type="http://schemas.openxmlformats.org/officeDocument/2006/relationships/image" Target="/ppt/media/image2.png" Id="Re063d06a84d64f84" /><Relationship Type="http://schemas.openxmlformats.org/officeDocument/2006/relationships/notesSlide" Target="/ppt/notesSlides/notesSlide24.xml" Id="R1eecd0fff7c146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01385834e4d9e" /><Relationship Type="http://schemas.openxmlformats.org/officeDocument/2006/relationships/image" Target="/ppt/media/image.png" Id="R989aa86325ba442f" /><Relationship Type="http://schemas.openxmlformats.org/officeDocument/2006/relationships/image" Target="/ppt/media/image2.png" Id="R13128f63c08f4403" /><Relationship Type="http://schemas.openxmlformats.org/officeDocument/2006/relationships/image" Target="/ppt/media/image14.png" Id="Rd9c3e588d3814411" /><Relationship Type="http://schemas.openxmlformats.org/officeDocument/2006/relationships/notesSlide" Target="/ppt/notesSlides/notesSlide25.xml" Id="Rf555dfee6e3d4b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c1fd1a34645cf" /><Relationship Type="http://schemas.openxmlformats.org/officeDocument/2006/relationships/image" Target="/ppt/media/image.png" Id="R93b3ace3661b487f" /><Relationship Type="http://schemas.openxmlformats.org/officeDocument/2006/relationships/image" Target="/ppt/media/image2.png" Id="R55db254f40474b9b" /><Relationship Type="http://schemas.openxmlformats.org/officeDocument/2006/relationships/notesSlide" Target="/ppt/notesSlides/notesSlide26.xml" Id="R97304194e4b543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0bff61e884cb4" /><Relationship Type="http://schemas.openxmlformats.org/officeDocument/2006/relationships/image" Target="/ppt/media/image.png" Id="R3ecc4ff67288494e" /><Relationship Type="http://schemas.openxmlformats.org/officeDocument/2006/relationships/image" Target="/ppt/media/image2.png" Id="R898e6cd7f4684a59" /><Relationship Type="http://schemas.openxmlformats.org/officeDocument/2006/relationships/image" Target="/ppt/media/image11.png" Id="R63270d8230d546d7" /><Relationship Type="http://schemas.openxmlformats.org/officeDocument/2006/relationships/image" Target="/ppt/media/image24.png" Id="Rd8adf172c8e24bea" /><Relationship Type="http://schemas.openxmlformats.org/officeDocument/2006/relationships/image" Target="/ppt/media/image6.png" Id="R60f57aa8dda445b0" /><Relationship Type="http://schemas.openxmlformats.org/officeDocument/2006/relationships/image" Target="/ppt/media/image12.png" Id="Rb1df9941041045c2" /><Relationship Type="http://schemas.openxmlformats.org/officeDocument/2006/relationships/image" Target="/ppt/media/image13.png" Id="R52c9b3599e004447" /><Relationship Type="http://schemas.openxmlformats.org/officeDocument/2006/relationships/image" Target="/ppt/media/image5.png" Id="R07bfe95885c34d34" /><Relationship Type="http://schemas.openxmlformats.org/officeDocument/2006/relationships/notesSlide" Target="/ppt/notesSlides/notesSlide27.xml" Id="Ra086b299e7084fc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a13147f194638" /><Relationship Type="http://schemas.openxmlformats.org/officeDocument/2006/relationships/image" Target="/ppt/media/image.png" Id="R69871aff4ece4e8b" /><Relationship Type="http://schemas.openxmlformats.org/officeDocument/2006/relationships/image" Target="/ppt/media/image2.png" Id="Re5ae2f8998c6448c" /><Relationship Type="http://schemas.openxmlformats.org/officeDocument/2006/relationships/notesSlide" Target="/ppt/notesSlides/notesSlide28.xml" Id="R0d7267b003e540e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5161c107d4db7" /><Relationship Type="http://schemas.openxmlformats.org/officeDocument/2006/relationships/image" Target="/ppt/media/image.png" Id="R2369b0b8ef6e4b5a" /><Relationship Type="http://schemas.openxmlformats.org/officeDocument/2006/relationships/image" Target="/ppt/media/image2.png" Id="R9f4e7bc40ad4493b" /><Relationship Type="http://schemas.openxmlformats.org/officeDocument/2006/relationships/image" Target="/ppt/media/image22.png" Id="R2dd89291e57c4486" /><Relationship Type="http://schemas.openxmlformats.org/officeDocument/2006/relationships/image" Target="/ppt/media/image14.png" Id="R0e668221643c47eb" /><Relationship Type="http://schemas.openxmlformats.org/officeDocument/2006/relationships/image" Target="/ppt/media/image6.png" Id="R2957f8be73bb489c" /><Relationship Type="http://schemas.openxmlformats.org/officeDocument/2006/relationships/image" Target="/ppt/media/image5.png" Id="R5f30f12daa6f4f50" /><Relationship Type="http://schemas.openxmlformats.org/officeDocument/2006/relationships/image" Target="/ppt/media/image15.png" Id="Rbb7532b65b5e405f" /><Relationship Type="http://schemas.openxmlformats.org/officeDocument/2006/relationships/image" Target="/ppt/media/image13.png" Id="R9025beb154eb466e" /><Relationship Type="http://schemas.openxmlformats.org/officeDocument/2006/relationships/image" Target="/ppt/media/image17.png" Id="R2b860ae821e74f0f" /><Relationship Type="http://schemas.openxmlformats.org/officeDocument/2006/relationships/image" Target="/ppt/media/image25.png" Id="R9bd9a5c923c44d1f" /><Relationship Type="http://schemas.openxmlformats.org/officeDocument/2006/relationships/notesSlide" Target="/ppt/notesSlides/notesSlide29.xml" Id="R42edf56291cd4c0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74582d8824414" /><Relationship Type="http://schemas.openxmlformats.org/officeDocument/2006/relationships/image" Target="/ppt/media/image.png" Id="Rda6518192713440f" /><Relationship Type="http://schemas.openxmlformats.org/officeDocument/2006/relationships/image" Target="/ppt/media/image2.png" Id="R5e40c25532ef42e4" /><Relationship Type="http://schemas.openxmlformats.org/officeDocument/2006/relationships/notesSlide" Target="/ppt/notesSlides/notesSlide30.xml" Id="R4420424a6fe846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1f6a79ff44166" /><Relationship Type="http://schemas.openxmlformats.org/officeDocument/2006/relationships/image" Target="/ppt/media/image.png" Id="R4e80bd97d13f4a15" /><Relationship Type="http://schemas.openxmlformats.org/officeDocument/2006/relationships/image" Target="/ppt/media/image2.png" Id="Rec36641ac4a84524" /><Relationship Type="http://schemas.openxmlformats.org/officeDocument/2006/relationships/image" Target="/ppt/media/image26.png" Id="R19356d6b97e64ec3" /><Relationship Type="http://schemas.openxmlformats.org/officeDocument/2006/relationships/image" Target="/ppt/media/image17.png" Id="Ref648ef5521146b8" /><Relationship Type="http://schemas.openxmlformats.org/officeDocument/2006/relationships/image" Target="/ppt/media/image27.png" Id="Rd99183668b144471" /><Relationship Type="http://schemas.openxmlformats.org/officeDocument/2006/relationships/notesSlide" Target="/ppt/notesSlides/notesSlide31.xml" Id="R3a07e93667944d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02790fa1248aa" /><Relationship Type="http://schemas.openxmlformats.org/officeDocument/2006/relationships/notesSlide" Target="/ppt/notesSlides/notesSlide32.xml" Id="Rcd4b7050f0b949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2bd4cec3b450f" /><Relationship Type="http://schemas.openxmlformats.org/officeDocument/2006/relationships/hyperlink" Target="https://huggingface.co/docs/hub/spaces-overview" TargetMode="External" Id="R7162f1801ddc409e" /><Relationship Type="http://schemas.openxmlformats.org/officeDocument/2006/relationships/hyperlink" Target="https://www.youtube-nocookie.com/embed/3bSVKNKb_PY" TargetMode="External" Id="Rbe433695e7284dae" /><Relationship Type="http://schemas.openxmlformats.org/officeDocument/2006/relationships/image" Target="/ppt/media/image28.png" Id="Rc5153ca1bed14ace" /><Relationship Type="http://schemas.openxmlformats.org/officeDocument/2006/relationships/notesSlide" Target="/ppt/notesSlides/notesSlide33.xml" Id="Ra082272e6d0e4e15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d27161db4847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7a88fd80346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a45dfd704b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5F98D645-05C0-4D96-A096-ADC7339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64CE04D-2538-4107-B967-84EE7D8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HUGGING FACE</a:t>
            </a:r>
            <a:endParaRPr sz="56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C1C6473-DFBC-4473-9F08-1638111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SPACES</a:t>
            </a:r>
            <a:endParaRPr sz="3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4544D9B-E765-42CC-9B3B-74C4754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 ML Model dengan Gradio &amp; Streamlit</a:t>
            </a:r>
            <a:endParaRPr sz="18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DAB6A71A-B73B-4ACB-8EE0-56999B0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916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9373621-F5D7-4F7A-925B-85D6D3CF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9  |  100 MENIT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F5F2CF4B-A838-46FE-B68E-BEFAE3F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F320846-19B3-4C54-A61D-2E95EDC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0613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7BA3CE-1774-48D3-8FEC-B2F0AFD0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AA5B3B-038C-425F-9C45-E3FBA2DE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8ED7B2-D62D-42BB-89E8-B5ED9714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1ccec23e4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fa60aba404e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2355629-CF77-4997-A954-42F81F8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9CAA00D-0D8D-415F-A23E-C2943F5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8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F07D509-BD00-4820-91FB-31C7EDE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Frontend live (Vercel) - sekarang waktunya ML model online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BBFDCD4-0DF3-43EC-ADF8-C242D97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7355D4C-BE6B-4F6D-9F10-9B9093E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8,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Deploy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2f04585ac4f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1063334-04B1-429B-AA21-CDCDD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 push -&gt; auto deploy ke 100+ edge nodes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a8c3e6857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B38C3B50-C847-43CB-902A-9163A82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Next.js + Vercel zero-config integration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8576ca0da4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2B0D32A7-F9D7-4222-967C-3DBD0E4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Preview deployment per PR untuk QA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3a8ec0ff2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AF1E36D1-92D4-4E76-A07D-F6EE37C3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Edge runtime + Next/Image untuk performance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4417df4004d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B6F02C3C-81C8-41B6-BE6E-4D15708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 domain + SSL otomatis (Let's Encrypt)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A0FB14A9-2DFE-489D-B7E2-051909C1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A95CD6C0-0FB0-49E6-9299-CACB24A6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HF Spaces &amp; ML Deploy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B51647D7-9E89-400A-A5AE-D5099E8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Challenges deploy ML model (vs web app)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Hugging Face ecosystem (Hub, Spaces, Inference API)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Gradio - bikin UI untuk ML dalam &lt; 20 baris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Streamlit - alternative untuk data dashboard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Gradio lokal; HF Spaces sesuai syarat akun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Inference API + private model serving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87E1C70A-D752-4D3A-808D-EEC61BE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 09: analisis sentimen dengan Gradio lokal; kode dan bukti uji di github.com/SeedFlora/meet9CloudService.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74746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AC19EB-C79D-4A84-B6AC-252F7E7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9D2836-7F70-42B4-9917-1164DCE7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1AE5A2-135D-4D52-A5E1-FC6F171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384b9a672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66f97741245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90232FF-7774-4A87-A5EF-C099A92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60C2349-CF80-4CFC-B5CA-AD5FAF9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9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A832218-5CC2-4E5D-A0FC-8537DD5F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4258F61-F65E-4A77-BEAB-751C49F7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9F36801-F54B-438A-AF18-1766A54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55038CA-EBFA-4446-89A7-8D5A1E3B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8BA58C5-4474-468A-B55B-B4066A7C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414dc6294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7FE2FA1-D46D-4959-A330-966D4F9B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Memahami</a:t>
            </a:r>
            <a:endParaRPr sz="18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7FEECC8-3944-42D2-BAE0-7E774F8D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tantangan deploy ML model (model size, GPU cost, latency, versioning).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8789222F-DA96-4A77-A964-72E71964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93B10AA-8618-4EA1-AC59-021A815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CC20E283-5915-4EB2-918B-E028D872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F8507F4E-AEC4-4D08-BD81-4655405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2b90082cb40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8E8C8F11-A8C2-42A7-A577-B6D424DA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Memanfaatkan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ED23ACBB-00E9-4C5E-9B2A-C73FDA58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Hugging Face Hub untuk pull pretrained model + Spaces untuk hosting.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618E736-08FC-4832-8679-E6E0E8F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5217D4A-D823-4868-BDDC-BCE71942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B39832D7-A5CB-44FB-BFF6-45810B2D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315B1590-9C57-4AA0-98C1-37D0743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3866179aa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D70ED6D-D6E6-4488-A74D-0266EC6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Membangun</a:t>
            </a:r>
            <a:endParaRPr sz="18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703B7CBF-FC06-44E9-98F3-494E166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demo ML interactive pakai Gradio - input/output UI auto-generated.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AD9F2E68-7B16-4598-A30F-2993460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74D891EB-07D0-4EA0-B149-011078E1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7E2C35CB-F76C-41B2-8C8C-655816D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92F29965-AAD1-4C24-BE69-BBFA54D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6597506bb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DBE3E018-C288-4BB4-A961-83EFB32D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Menerbitkan</a:t>
            </a:r>
            <a:endParaRPr sz="18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B54EC6E7-24AC-429E-9647-F4767D0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lokal dan opsi deploy HF sesuai syarat akun.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DA6C923D-F674-4284-9899-23EB20C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LO3 (Evaluate-Create – ML integration to production)  +  LO2 (Apply – deploy + iterate)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51800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5597D1-D600-48DE-8B39-BB2D936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6201C27-DB09-41E4-96B1-DCFB8D7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65B5D4-5810-4AC6-942D-F98E62A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B23A40-24DC-4086-B945-4ED1F778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C6F2C61-8176-4350-87C5-9C1BFEF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099A66D-48D9-4153-B641-F5C98113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FA985A0-6726-4129-874F-BFC4D63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5adc17d60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4efeca38b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08C877D-C7A2-4B37-9C8E-C34EA32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4FE167B-9062-4A9F-ADE7-F601F49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ML Deployment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AFF167C-9AF4-4138-9ABE-73598AF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01CFEEA-8C8F-4C58-B723-0653C9F8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Kenapa deploy ML model lebih sulit dari deploy web app biasa.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60774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E2A658-5F50-4824-86AD-D704665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B0AC36-E397-4D2B-9023-4F664DDF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F0E81AB-49A4-4CFD-A07B-BD4A48D8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917a4209b43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0bfe05675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56AB295-0251-48D0-AAD6-E0B9FBA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122184F-C811-433E-8BA3-8B62645F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Kenapa Deploy ML Model Sulit?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1C9F95F-17F4-46C7-BD84-9E26EA7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Karakteristik yang beda dari deploy aplikasi web biasa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B6DE132-682F-478E-8EE2-5DF4D06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B48C088-419A-444E-BCC2-D6EA14C7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3b1fd34da4c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AB9DE6F3-7122-4C30-A2C9-6A9795C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Size Besar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AFC9E58F-7CF7-4CC6-A7F9-382FC07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bisa GB+ (ResNet50: 100 MB, BERT: 400 MB, LLM: 10+ GB). Tidak muat di server biasa.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0D8F28BD-D409-466E-95BA-7C923E3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FE8D4AA-A8F3-4E53-BB69-5E3CB86E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6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6f138d17e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6A7E2034-EBD1-4C2A-ABA9-41544AE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Compute Berat</a:t>
            </a:r>
            <a:endParaRPr sz="13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3C945685-06CF-4DB6-9176-084417E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Inference butuh CPU/GPU yang kuat. Latency sensitive - user tidak mau tunggu 10 detik.</a:t>
            </a:r>
            <a:endParaRPr sz="11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EB7A0C37-AD0A-4243-956C-E06AFADD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3EB9B62C-BE47-467F-8C89-EE992924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6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e51dd85544b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0AFB2FF5-7F7D-4BA1-B7EF-F2BC386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Dependencies Berat</a:t>
            </a:r>
            <a:endParaRPr sz="13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64133550-CA4F-44B4-8403-48B142D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PyTorch, TensorFlow, CUDA - install butuh 5+ GB disk. Build image lambat.</a:t>
            </a:r>
            <a:endParaRPr sz="11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25DFBD29-2836-487C-B463-A3228B5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4E9AC423-5D0C-45E9-A78D-46DF485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1b43b32f0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5C6AE136-4DB1-4D72-AC27-7918EB53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Versioning Kompleks</a:t>
            </a:r>
            <a:endParaRPr sz="13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6438EDFF-DCED-4620-B07F-8EC99CDD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Beda dari versioning code: model + weights + tokenizer + config harus sinkron.</a:t>
            </a:r>
            <a:endParaRPr sz="1100"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B75D6398-F2B6-4AFB-BE7A-7D7B47B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8AA2981E-FBA1-4D6F-9B3D-A85BF922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7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60c9d970b40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15CB34A6-5B84-4121-8732-4A602DA3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Cold Start Pain</a:t>
            </a:r>
            <a:endParaRPr sz="1300"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50195D97-E0A7-4DA0-A336-10913624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Load model ke RAM butuh 5-30 detik. Serverless cold start = user request timeout.</a:t>
            </a:r>
            <a:endParaRPr sz="1100"/>
          </a:p>
        </p:txBody>
      </p:sp>
      <p:sp>
        <p:nvSpPr>
          <p:cNvPr id="35" name="Shape 26">
            <a:extLst xmlns:a="http://schemas.openxmlformats.org/drawingml/2006/main">
              <a:ext uri="{FF2B5EF4-FFF2-40B4-BE49-F238E27FC236}">
                <a16:creationId xmlns:a16="http://schemas.microsoft.com/office/drawing/2014/main" id="{8252C053-E9F0-4804-8EE7-FDA01B71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27">
            <a:extLst xmlns:a="http://schemas.openxmlformats.org/drawingml/2006/main">
              <a:ext uri="{FF2B5EF4-FFF2-40B4-BE49-F238E27FC236}">
                <a16:creationId xmlns:a16="http://schemas.microsoft.com/office/drawing/2014/main" id="{0DD10B90-4DED-40C7-B850-B5A19027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8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42a2444ab4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95CA9BE4-B8D1-4546-976B-325D8FC0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Cost Mahal</a:t>
            </a:r>
            <a:endParaRPr sz="130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14F6B417-3494-4477-A9D8-D9B8A820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GPU mengikuti jenis hardware dan jam aktif; cek tarif resmi sebelum deploy.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51667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17DD76-CF60-41C3-8337-ED70AA9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36693-81FD-4CE6-8405-BB32DEFF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F6641D-8614-421E-9479-C825384E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b187be98d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ec947c8a5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DE7848D-D621-4753-BD11-1BDDC1D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0203AD5-2492-46C5-9797-004B74C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Model Serving Patterns - Pilih yang Sesuai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5133537-8005-4A46-8B54-5490D06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cara expose model ke user - trade-off cost vs latency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991F6AE-DB05-4E82-9BFC-441A9DAA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5A609BD-D9B8-4101-B0BB-C60094E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D661DD3-978C-493A-9404-99F1C68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41BF473-93A2-488C-9FB4-AB716402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Self-host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02FBE31-24F1-4C52-B8E7-EBFA803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FastAPI/Flask + model di-load 1x di memory. Always-on server.</a:t>
            </a:r>
            <a:endParaRPr sz="105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A819AF5-0348-4524-A5CA-A24004F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E831291-14A1-40F2-BC10-2C7E534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F5E9D8E-2E13-42E6-8E67-1DF39A7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8404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$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48A30AB-2108-41E6-910F-1B8CEC2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24D42B1-6CC7-4A7D-B0A1-8D1DE65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976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Latency: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87348B8-8B27-4211-B50C-71B79F1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2976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Low (~50ms)</a:t>
            </a:r>
            <a:endParaRPr sz="105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652C8B2-E97E-423E-AEAC-92ED3E2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6BDE91B-83B4-44F3-9243-CBAF1C2D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2148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stable load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A16D2F1-362C-4889-BA13-51A1BA51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1CF439EC-E975-4E70-9AA7-7AFF0B51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898A837D-7701-4805-AC7B-539A4575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46304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Serverless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</a:t>
            </a:r>
            <a:endParaRPr sz="14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42CE8DAC-EB82-45CB-8A5E-F7916C63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05740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On-demand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D633340-DA6B-409E-92A3-76348DC0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468880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Vercel/Lambda function load model per request. Auto-scale 0.</a:t>
            </a:r>
            <a:endParaRPr sz="10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1A2475AC-E931-4255-9D71-5B2D58A6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8404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45B6E26-9CB0-4FDC-B5B6-96E06C23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8404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C0EB4F4-98BD-4343-B659-FAE1F0B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8404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$$</a:t>
            </a:r>
            <a:endParaRPr sz="10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DA36CDC4-BE93-4DA2-ADF9-A8D17488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2976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1F0F5B15-F842-4411-8FDF-A30EC947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2976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Latency: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90FC996-AA0B-4E74-A28A-670FB767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976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High cold (5s+)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E2798869-DC0C-44F4-8CA6-C9A9DB36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84632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A48E617-23B5-49E0-A02C-30F31314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892040"/>
            <a:ext cx="2148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Sporadic traffic</a:t>
            </a:r>
            <a:endParaRPr sz="105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F9179808-FAF4-44BB-BECE-BE430D41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D92D466F-4005-4FF1-9B19-E227DDA8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28A72DF-803C-4D3E-AF48-BA94BD69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6304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Managed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 API</a:t>
            </a:r>
            <a:endParaRPr sz="14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19427D-60D5-48F6-8E0B-B27F8CC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05740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BYO weights</a:t>
            </a:r>
            <a:endParaRPr sz="10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32FAAA1-FA3B-426A-8A37-B98ED6E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68880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Inference Endpoints, Replicate, Banana - upload model, dapat URL.</a:t>
            </a:r>
            <a:endParaRPr sz="1050"/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2942BD8A-CD04-46AC-B2BC-87824E22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8404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C818959E-9A98-4399-9337-EDD1E6E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8404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C4243A72-F274-468E-BCD6-A3E7C53A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38404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$$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D3A17EEF-63E3-4119-BB8A-F30D8EF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2976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D761B9E7-B957-45FC-BE3C-9D153D2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976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Latency:</a:t>
            </a:r>
            <a:endParaRPr sz="10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D106FBA9-3B5A-4151-84BC-AF02C64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2976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Low warm (~100ms)</a:t>
            </a:r>
            <a:endParaRPr sz="105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5314ADA8-A6F3-412D-B4D3-EA0D23EF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84632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12ADB473-B403-48E6-A41D-93F750FD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892040"/>
            <a:ext cx="2148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Don't want infra</a:t>
            </a:r>
            <a:endParaRPr sz="1050"/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315B55E1-FE7A-4B45-B9E5-A54F89D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30706D8-6D01-4541-9060-805B1559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94650F99-75A8-4813-9E50-6585E17B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146304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Interactive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Space</a:t>
            </a:r>
            <a:endParaRPr sz="1400"/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F700FEE6-6D72-477F-B45F-F59CF5A3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05740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Showcase</a:t>
            </a:r>
            <a:endParaRPr sz="100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278ADAE2-450C-494E-B46D-C2C5FF9D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468880"/>
            <a:ext cx="2331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Gradio/Streamlit UI di HF Spaces. Bukan production - untuk demo.</a:t>
            </a:r>
            <a:endParaRPr sz="1050"/>
          </a:p>
        </p:txBody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491F45C3-65C4-436F-9539-8000437F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8404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3C6B89F9-98BD-4F9C-97CC-573B9AFF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38404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Cost:</a:t>
            </a:r>
            <a:endParaRPr sz="10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BF0C2C73-09D5-4DDD-98EE-FC9F1C9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38404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CPU Basic</a:t>
            </a:r>
            <a:endParaRPr sz="1050"/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C985F83D-4A09-49BC-948A-B8260895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297680"/>
            <a:ext cx="2331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8" name="Text 54">
            <a:extLst xmlns:a="http://schemas.openxmlformats.org/drawingml/2006/main">
              <a:ext uri="{FF2B5EF4-FFF2-40B4-BE49-F238E27FC236}">
                <a16:creationId xmlns:a16="http://schemas.microsoft.com/office/drawing/2014/main" id="{895FB58C-7DD9-4B5D-BC6A-AF48A821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297680"/>
            <a:ext cx="914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Latency:</a:t>
            </a:r>
            <a:endParaRPr sz="1000"/>
          </a:p>
        </p:txBody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1D64A7DB-3D6A-45D7-9DFD-E061F2A1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4297680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Medium (~500ms)</a:t>
            </a:r>
            <a:endParaRPr sz="1050"/>
          </a:p>
        </p:txBody>
      </p:sp>
      <p:sp>
        <p:nvSpPr>
          <p:cNvPr id="60" name="Shape 56">
            <a:extLst xmlns:a="http://schemas.openxmlformats.org/drawingml/2006/main">
              <a:ext uri="{FF2B5EF4-FFF2-40B4-BE49-F238E27FC236}">
                <a16:creationId xmlns:a16="http://schemas.microsoft.com/office/drawing/2014/main" id="{47ED3003-C5A6-48B2-844D-0B9B07B8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846320"/>
            <a:ext cx="23317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6F5AA8EB-2664-422E-9A84-F39F026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4892040"/>
            <a:ext cx="2148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Pakai untuk: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Portfolio, edukasi</a:t>
            </a:r>
            <a:endParaRPr sz="1050"/>
          </a:p>
        </p:txBody>
      </p:sp>
      <p:sp>
        <p:nvSpPr>
          <p:cNvPr id="62" name="Text 58">
            <a:extLst xmlns:a="http://schemas.openxmlformats.org/drawingml/2006/main">
              <a:ext uri="{FF2B5EF4-FFF2-40B4-BE49-F238E27FC236}">
                <a16:creationId xmlns:a16="http://schemas.microsoft.com/office/drawing/2014/main" id="{6898F65F-CF02-4B1F-A4F1-DD847B49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kuliah: jalankan Gradio lokal. Pembuatan Space dengan compute bergantung paket dan kelayakan akun; cek aturan terbaru.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73955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FE675A-6F55-45F6-BD0B-36EFA7A2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31C9E42-6572-44C0-9E43-6C270F5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B3DE260-13DF-4962-B866-6F0A63D7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438E84-4FDC-4ADD-9311-F25BA20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5039285-B547-4702-AF5B-2534DAE8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A695B12-14E8-4DCA-842C-7D35347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5364C6-51D1-48CA-82D4-E3CF726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a515c3ce5b4d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1d3df6722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B3BC1A7-9A03-4192-BE44-510D93E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117C83F-731F-4D8B-9BF5-690BCE6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Hugging Face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Ecosystem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5576196-2E2D-4F9C-A2E8-8DD332D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EEACB13-B5D3-4140-BA99-094038DF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Hub, Spaces, Inference API - 3 produk yang saling melengkapi.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51886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E100B3-13E1-48B2-8C4A-26F8FCA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3DAECE-B290-4668-B540-9273DE2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767B87-4704-4A20-9648-00ED60B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7acd238f440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474e3f0e4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EBD4B0C-DDC3-4FE4-9ECC-C12B7C7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1DFF869-23D7-43A6-A0AC-45B8AD1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Hugging Face?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18D654A-A0C7-4855-B51C-52AD92CF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GitHub-nya ML community + platform deploy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16D510-1677-4785-B047-7A55ABF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a628561b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21336189-52E6-4120-9193-1924304D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Hugging Face = platform pusat untuk model, dataset, dan demo ML.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6037621-4305-41D4-B45B-944A902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Hub menyediakan model dan dataset; Spaces menjalankan demo, sedangkan Inference Providers dan Endpoints melayani kebutuhan inferensi. Cek katalog terkini.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F380980-CB90-4DD1-A9CE-E891CA6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 Produk Utama yang Saling Terhubung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ED9B126F-1447-41BD-B1DC-E7470F5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65760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462812C-D022-438F-9377-BF3F6B1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657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5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e351e49d4a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3832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5CADF5A-7F7E-41D9-81D7-71AB6099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Hub</a:t>
            </a:r>
            <a:endParaRPr sz="18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34CC515-95E3-4ED4-8364-A3133B10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Repository git untuk model + dataset. Mirip GitHub tapi spesifik ML.</a:t>
            </a:r>
            <a:endParaRPr sz="11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7C7EB3CA-C15B-4D82-B757-C33DDE48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32918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2938AFF1-CB3F-4DCA-8633-63315725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40680"/>
            <a:ext cx="3108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Use case: </a:t>
            </a: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Pull pretrained model dengan 2 baris code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1BF6539-1AF3-49CC-B77A-9153546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46120"/>
            <a:ext cx="365760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DEC253BB-EAC9-48A2-9356-35E530F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246120"/>
            <a:ext cx="3657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3659dada6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0560" y="33832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B9578883-B9A0-4956-9EC2-39890542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4612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Spaces</a:t>
            </a:r>
            <a:endParaRPr sz="180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504A5FF0-A97E-4527-9F74-F32773B2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1480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Hosting demo ML: Gradio, Docker, atau Static HTML. Streamlit dapat dibawa lewat Docker.</a:t>
            </a:r>
            <a:endParaRPr sz="11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A4BEC8AA-EA1C-4316-A9F1-2DE4A52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94960"/>
            <a:ext cx="32918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A3DB4DD-1A8D-4FFB-8EEF-9B9CA0B6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0680"/>
            <a:ext cx="3108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Use case: demo lokal; deploy sesuai akses akun</a:t>
            </a:r>
            <a:endParaRPr sz="10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E9524692-7A96-43F0-B0A7-E37BC56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46120"/>
            <a:ext cx="365760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616B3C1D-325C-4EF0-AD7A-980AC691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46120"/>
            <a:ext cx="36576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b24e31592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33832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6921A3BC-5DDE-492A-BC30-1CD16B56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6120"/>
            <a:ext cx="2743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 API</a:t>
            </a:r>
            <a:endParaRPr sz="18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89C76F8D-CF06-4FF4-B67B-A75F5CF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1480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endpoint untuk pretrained model - tinggal panggil tanpa setup.</a:t>
            </a:r>
            <a:endParaRPr sz="11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C5676213-FCB8-4769-AB55-6A9E5CD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2918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2A5B0A7-67E8-4288-9FD6-D986CD2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40680"/>
            <a:ext cx="3108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Use case: </a:t>
            </a: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 inference dengan SLA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664274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EDD6D7-95E8-4F7F-A36D-7FB336D1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5A601AB-D214-461E-9389-93A5152B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AD46A8F-BA10-4BC4-9EA7-9963550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ad78597d348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bc3cf1db9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7A82233-FA8C-4298-A1C4-4ED8543C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721714F-75AB-4B89-BCC7-FB846F46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Hugging Face Hub - Model Repository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9A0407-4084-4D57-A181-2E65238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 700K+ model, download dengan 2 baris Python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A43020A-357F-46AC-A0C7-A106C03D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B8DE1BC-EDC0-45E5-AF63-265F5283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Kategori Model di Hub</a:t>
            </a:r>
            <a:endParaRPr sz="1400"/>
          </a:p>
        </p:txBody>
      </p:sp>
      <p:pic>
        <p:nvPicPr>
          <p:cNvPr id="5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d2f146ec741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C137D7B-1475-4F5A-A717-75AD74A0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NLP - Text</a:t>
            </a:r>
            <a:endParaRPr sz="1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6FBB4FB-E673-4C8D-9F78-A0A7E9B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05740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BERT, RoBERTa, DistilBERT - classify/QA/NER</a:t>
            </a:r>
            <a:endParaRPr sz="1000"/>
          </a:p>
        </p:txBody>
      </p:sp>
      <p:pic>
        <p:nvPicPr>
          <p:cNvPr id="5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3d09a4dfd44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432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E52B5BF9-4859-400D-A88F-1ED6297D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LLM - Generation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7D4BADE8-CD9C-46FD-B34B-1BAF874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69748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Llama, Mistral, Qwen, Gemma - chat &amp; instruct</a:t>
            </a:r>
            <a:endParaRPr sz="1000"/>
          </a:p>
        </p:txBody>
      </p:sp>
      <p:pic>
        <p:nvPicPr>
          <p:cNvPr id="6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d229a5de040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A71B5ED4-6452-4B9A-A42F-ED6ED8AE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3375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Computer Vision</a:t>
            </a:r>
            <a:endParaRPr sz="1200"/>
          </a:p>
        </p:txBody>
      </p:sp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FD0ABD8A-9B9E-4DD6-AABF-33C63F20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3756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ViT, ResNet, YOLO - classify/detect/segment</a:t>
            </a:r>
            <a:endParaRPr sz="1000"/>
          </a:p>
        </p:txBody>
      </p:sp>
      <p:pic>
        <p:nvPicPr>
          <p:cNvPr id="6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131e0daa9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023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FCF2F297-A9B7-49A4-AF83-21475029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Image Generation</a:t>
            </a:r>
            <a:endParaRPr sz="1200"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D5DB7EE1-C6E2-469D-BE3B-2693CA2E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7764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Stable Diffusion, FLUX - text-to-image</a:t>
            </a:r>
            <a:endParaRPr sz="1000"/>
          </a:p>
        </p:txBody>
      </p:sp>
      <p:pic>
        <p:nvPicPr>
          <p:cNvPr id="6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615af06c64d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88F82801-E603-4C6C-A064-F340B7D5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177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Speech</a:t>
            </a:r>
            <a:endParaRPr sz="1200"/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4E27196F-DC20-4EC1-B2F6-FE46972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1772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Whisper, Bark - ASR + TTS</a:t>
            </a:r>
            <a:endParaRPr sz="1000"/>
          </a:p>
        </p:txBody>
      </p:sp>
      <p:pic>
        <p:nvPicPr>
          <p:cNvPr id="7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5cd14918b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303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D25DB90F-8095-440A-89C1-5582E85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257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Multimodal</a:t>
            </a:r>
            <a:endParaRPr sz="1200"/>
          </a:p>
        </p:txBody>
      </p:sp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9BA891C8-F05E-4C23-9D28-2878D344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257800"/>
            <a:ext cx="26060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CLIP, BLIP, LLaVA - vision + text</a:t>
            </a:r>
            <a:endParaRPr sz="1000"/>
          </a:p>
        </p:txBody>
      </p:sp>
      <p:sp>
        <p:nvSpPr>
          <p:cNvPr id="30" name="Shape 20">
            <a:extLst xmlns:a="http://schemas.openxmlformats.org/drawingml/2006/main">
              <a:ext uri="{FF2B5EF4-FFF2-40B4-BE49-F238E27FC236}">
                <a16:creationId xmlns:a16="http://schemas.microsoft.com/office/drawing/2014/main" id="{96814255-0A3A-4773-A7A9-F25553A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1" name="Shape 21">
            <a:extLst xmlns:a="http://schemas.openxmlformats.org/drawingml/2006/main">
              <a:ext uri="{FF2B5EF4-FFF2-40B4-BE49-F238E27FC236}">
                <a16:creationId xmlns:a16="http://schemas.microsoft.com/office/drawing/2014/main" id="{C8CF86D0-6CDD-48A4-BE9E-C7C3E9FC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9F8862B5-C641-4B16-B7C6-BBF74CA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3" name="Shape 23">
            <a:extLst xmlns:a="http://schemas.openxmlformats.org/drawingml/2006/main">
              <a:ext uri="{FF2B5EF4-FFF2-40B4-BE49-F238E27FC236}">
                <a16:creationId xmlns:a16="http://schemas.microsoft.com/office/drawing/2014/main" id="{F8B6EEE5-AFD7-4C29-9299-3EBCAE7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7CE7D1B9-4E0D-4CD5-99E7-E9BC8C76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18B1D1DF-B8B4-424C-97CB-0EB01775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pull + run model dengan transformers</a:t>
            </a:r>
            <a:endParaRPr sz="900"/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21051A62-B383-438B-997C-2A61675F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Install library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pip install transformers torch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Python script - 2 baris untuk inference!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transformers import pipeline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Sentiment analysis (auto-download model)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classifier = pipeline("sentiment-analysis")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result = classifier("Saya suka kuliah ini!")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-&gt; [{'label': 'POSITIVE', 'score': 0.99}]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Atau spesifik model dari Hub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transformers import AutoModel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model = AutoModel.from_pretrained(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"indolem/indobert-base-uncased"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Model cache di ~/.cache/huggingface/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4635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FDA266-5E57-43CE-A56D-2D3B2E6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C8164-14BE-41C3-88D0-3BA512A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B4A744-E87B-44B0-A8E2-627DD976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5a8426bab4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6ad3b93a04a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FA70C81-D2CF-4CC4-B6F5-4AD7F6C4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483FD24-60A4-4ADB-B98E-10B46F00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HF Spaces - Hosting ML Demo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665F8B-B42E-4ADE-8220-5128ED0F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Push code -&gt; auto build container -&gt; dapat URL public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A3ECC31-37A8-40D7-9923-CA737FF3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98AB5B6-1C49-4057-981F-15F33BB5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Konsep: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 = repo git yang isi-nya app ML. HF auto detect framework, build container, deploy.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URL: huggingface.co/spaces/&lt;user&gt;/&lt;space&gt;. CPU Basic 2 vCPU/16 GB; pembuatan Space compute bersyarat.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7F84F3E-5C44-434B-AE32-A065F6D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Pilihan implementasi Space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1861888-6B88-4294-9ADD-606A22B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97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B253EA6-6E51-40BA-86F7-E646504C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c03a0f0fb4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1089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7E10D899-D490-4861-B2F5-C8326DBD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971800"/>
            <a:ext cx="1783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</a:t>
            </a:r>
            <a:endParaRPr sz="16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5D52791-378A-44FD-BADB-A69B250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Auto-generated UI dari Python function. Cocok untuk ML demo.</a:t>
            </a:r>
            <a:endParaRPr sz="11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95850196-C8B0-4977-A92D-CE9AB7E8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AF6F45F8-3FDA-4C8E-97B7-4B0A4F2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7FFF2BF-E245-431E-BEC4-06B04E2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Default - paling cepat</a:t>
            </a:r>
            <a:endParaRPr sz="11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11217620-9860-40B4-8DB2-5549ABE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89320"/>
            <a:ext cx="23317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A01D701-7005-42FD-9CF0-6510DD71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9320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</a:t>
            </a:r>
            <a:endParaRPr sz="9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FE453347-A26F-4FB5-A5AF-05DC8B0C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71800"/>
            <a:ext cx="2697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15FC308-30B9-43C6-AD5A-555726D3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7180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12700">
            <a:solidFill>
              <a:srgbClr val="FF4B4B"/>
            </a:solidFill>
            <a:prstDash val="solid"/>
          </a:ln>
        </p:spPr>
      </p:sp>
      <p:pic>
        <p:nvPicPr>
          <p:cNvPr id="7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ba86ca92940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02152" y="31089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D83068C1-BEDC-4370-B21D-A585A5B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971800"/>
            <a:ext cx="1783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Streamlit via Docker</a:t>
            </a:r>
            <a:endParaRPr sz="16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73670D4E-9148-4573-91E6-EFDD4BB8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88620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app framework. Punya widget lengkap (chart, table, form).</a:t>
            </a:r>
            <a:endParaRPr sz="11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8362F1CD-7512-4C16-A7AF-EFC3470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30352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B09711FA-73D9-4DBB-8213-31B8372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394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60AF1AEE-2832-4A30-B1D1-E53FCE69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623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Dashboard + interactive</a:t>
            </a:r>
            <a:endParaRPr sz="1100"/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6A4E07B-6735-4DAB-9014-085EF20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71800"/>
            <a:ext cx="2697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1C7A3680-8053-4B12-96A1-E04F107C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97180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12700">
            <a:solidFill>
              <a:srgbClr val="2496ED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c6de584fb4a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4224" y="31089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0D1144D5-31DD-4C14-A96E-CC6F0A3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971800"/>
            <a:ext cx="1783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</a:t>
            </a:r>
            <a:endParaRPr sz="1600"/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95569576-30E6-46FF-81C6-D9AC1DA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88620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custom container - bawa Dockerfile sendiri. Apa pun bisa.</a:t>
            </a:r>
            <a:endParaRPr sz="1100"/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A8D1FCE-B653-449A-B3BB-98B61A3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0352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687BFCCC-5F13-4DA4-A195-B7616274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94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323F1754-B8C2-403F-99BC-F5B39E1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623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Full kontrol</a:t>
            </a:r>
            <a:endParaRPr sz="1100"/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AAA5D988-11EF-4D1C-9C0A-83FEAE8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971800"/>
            <a:ext cx="2697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FDE25C56-E372-43F4-ABC5-DBD8929A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97180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pic>
        <p:nvPicPr>
          <p:cNvPr id="9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e4c576d2b41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6296" y="310896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82E34567-5641-40E8-A844-03DBBAD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971800"/>
            <a:ext cx="1783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Static</a:t>
            </a:r>
            <a:endParaRPr sz="16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0EC7B1E-6695-40E3-9198-FF7FFC0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886200"/>
            <a:ext cx="23317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HTML + JS static. Cocok untuk demo client-side ML (ONNX, WebGPU).</a:t>
            </a:r>
            <a:endParaRPr sz="110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F791E436-C27F-45AC-B61E-E597909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30352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0E30E06A-A973-43BA-829A-AC871E4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39496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Pakai untuk:</a:t>
            </a:r>
            <a:endParaRPr sz="900"/>
          </a:p>
        </p:txBody>
      </p:sp>
      <p:sp>
        <p:nvSpPr>
          <p:cNvPr id="46" name="Text 38">
            <a:extLst xmlns:a="http://schemas.openxmlformats.org/drawingml/2006/main">
              <a:ext uri="{FF2B5EF4-FFF2-40B4-BE49-F238E27FC236}">
                <a16:creationId xmlns:a16="http://schemas.microsoft.com/office/drawing/2014/main" id="{6E4CDF25-4B02-45F6-8573-5BD6545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5623560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Zero-server demo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3732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3F747-DD64-4D34-BC6C-B69DC84D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B8FA7-97DC-40A0-8DE5-60665D1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787E207-CCEA-49F7-8B80-B112642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2cba80f01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a4bb364f54c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26A033E-3B19-4C86-A52C-3942F2C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56C1244-329E-4190-AFCA-2506296E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Setup Akun HF + Token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C14B351-268E-46FB-B2B9-DF33523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menit dari signup ke deploy pertama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DD7C33A-87B7-4F64-9CC8-8C606FD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41C70F0-869A-40F4-9CA8-5D80DA0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789CD68-655A-4E2D-844A-989CCE90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5c69fb87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691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DC2561C-CABB-4379-85AD-1756CD06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5087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Signup di huggingface.co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91AC7C8-F5F3-4025-BD44-43F0948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Email atau GitHub OAuth. Pilih username (jadi namespace di Hub).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7704BE7B-13A9-41EA-8366-7DEF465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5A26FE9B-A4CD-45D6-8F5E-94E7597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4ABE07F8-5912-4993-93D3-C6D6532E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c0c19d0af4d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6F90AA3A-EADC-42E1-B4D0-E2A44300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603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Generate Access Token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F4F8B34-832D-4D5B-87CE-CB13F037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2608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Settings -&gt; Access Tokens. Pilih scope: 'write' untuk push, 'read' untuk inference.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5DC7BF03-AB1A-41AC-8A95-BDCB99E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761131A2-5D9E-44F0-983F-87949EFF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1063DE03-4E2F-42AC-B30C-26B1E44C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e207bf8ed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37947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2F90C89D-4700-4DF4-9189-33647F8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118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Install huggingface_hub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D08FE024-D9B1-4439-85DC-378ECA03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7764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pip install huggingface_hub. CLI tool untuk upload model + space.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554873FD-5883-47CF-A848-1C4F1FE4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EB9F39C9-348C-45D8-A2C2-4B06726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308A9F1A-F21C-4ED3-96E1-5773442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d25128b984a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48463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497D56A9-6004-431E-8DE2-15E090F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Login dari Terminal</a:t>
            </a:r>
            <a:endParaRPr sz="13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B2FD88FE-B257-4C3F-B391-FE54739A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2920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huggingface-cli login - paste token. Disimpan di ~/.cache/huggingface/</a:t>
            </a:r>
            <a:endParaRPr sz="10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02EFC33E-18AD-4221-BC9D-067DCA82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5A63095-281B-4D74-BD1C-1003A38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A3FD551D-03B3-4C27-986B-8EE460DE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41CF3A14-6455-478C-ACFF-A5325E71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5E7248F3-E36F-4353-B831-1F5173A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8A67323D-CC16-4D9F-A608-49BD90D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CLI workflow</a:t>
            </a:r>
            <a:endParaRPr sz="9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77221BC4-B00A-4A54-8782-91C88E46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83080"/>
            <a:ext cx="43891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Install CLI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pip install huggingface_hub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Login dengan 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huggingface-cli login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&gt;&gt;&gt; Paste token: hf_xxxxxxxx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Login successful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Create new Space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huggingface-cli repo create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--type=space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--space_sdk=gradio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my-classifier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Created: huggingface.co/spaces/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budijuarto/my-classifier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558351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2A64EF-64BA-49A4-9332-656E27AB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5949C64-CD94-4CE1-803A-24F5A75E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0B1B1D7-8A3C-4FFB-BA7E-87B14A5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878D415-A10D-4417-8ACD-445D8AD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1B071EE-0850-4C07-95F5-5CA7F2DB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189CBE-4703-44B3-9CCE-DAD7157F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1293917-DF9B-44AF-A263-71482684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b1f1635f8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35e6d8e07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53CF111-7470-4273-A002-B037EDA0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EE950BE-A9F9-4E3F-BDA7-29E6E3AC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Basics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D0376C9-0243-4A46-992D-DA4700EC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917B392-A2AC-4389-9C90-A8C1F3C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Bikin UI ML dalam &lt; 20 baris Python.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00459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297F02-3038-4494-9178-6B5395A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55740BA-7129-4717-8487-1253141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EA5519-E5B8-4A90-8FF2-2EB6196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68692ce1e40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f383ab0c6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BDDE856-DB80-47D1-AF69-7CBF4520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C594242-07B0-45ED-A540-E7478C9E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Gradio?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586ED3D-4EF9-44C9-A09C-A5368E68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Library Python untuk build UI ML cepat - dari function ke web app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5D2A388-468E-4FC2-A35B-F3AF838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pic>
        <p:nvPicPr>
          <p:cNvPr id="7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0540cae43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9164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9A6357B2-C7BE-4D77-A376-6980D500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554480"/>
            <a:ext cx="9601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 = Python lib yang ubah function jadi web UI otomatis.</a:t>
            </a:r>
            <a:endParaRPr sz="16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E645C5D-16DE-45BB-97C4-6AF8D06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65960"/>
            <a:ext cx="9601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Anda tulis fn predict(input) -&gt; output. Gradio handle UI (input form, output display), routing, deploy. Acquired oleh HF tahun 2021 - jadi first-class di Spaces.</a:t>
            </a:r>
            <a:endParaRPr sz="11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AA2FEF6-DC02-4FAD-A7EC-9125E80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Komponen Gradio yang Sering Dipakai</a:t>
            </a:r>
            <a:endParaRPr sz="14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95F65E22-F34F-4D0F-A73B-E588FE92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407d848d7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E78E7509-D995-4A70-9FCD-AD547BB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3756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Textbox</a:t>
            </a:r>
            <a:endParaRPr sz="12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9907C25-B886-41DF-8E2F-51188C2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Input/output text</a:t>
            </a:r>
            <a:endParaRPr sz="1000"/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2997AB0A-B93D-486B-BC23-2BCB727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324612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8e91ad7c14e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7792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D4E3A817-F135-4B65-9D3F-1E1D751A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33756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Image</a:t>
            </a:r>
            <a:endParaRPr sz="12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E79DF305-C5C8-47D0-A088-FF4A9369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84048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Upload / display image</a:t>
            </a:r>
            <a:endParaRPr sz="10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3EED1570-41C3-49EF-B23A-684D8F7C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324612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ea165f8114c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1224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76D34E2E-9E91-4B7F-B41E-65EC742D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333756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File</a:t>
            </a:r>
            <a:endParaRPr sz="1200"/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13C04048-B235-4AE0-B681-E46EB31A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384048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Upload file PDF/CSV</a:t>
            </a:r>
            <a:endParaRPr sz="1000"/>
          </a:p>
        </p:txBody>
      </p:sp>
      <p:sp>
        <p:nvSpPr>
          <p:cNvPr id="27" name="Shape 19">
            <a:extLst xmlns:a="http://schemas.openxmlformats.org/drawingml/2006/main">
              <a:ext uri="{FF2B5EF4-FFF2-40B4-BE49-F238E27FC236}">
                <a16:creationId xmlns:a16="http://schemas.microsoft.com/office/drawing/2014/main" id="{6CAAAD86-5A66-4F37-9225-9466F3D0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324612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53ef617842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656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8C102330-BE34-4229-B892-A2EAE7C1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333756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Audio</a:t>
            </a:r>
            <a:endParaRPr sz="12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EAD3E34E-ACB3-4050-96C3-302637E2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84048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Record / playback audio</a:t>
            </a:r>
            <a:endParaRPr sz="100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5CC00110-9B07-42DE-9745-2091398B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24612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9b8dcfcd846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8088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9256C39F-CFB1-47CA-BDB5-2F712816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333756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Slider</a:t>
            </a:r>
            <a:endParaRPr sz="1200"/>
          </a:p>
        </p:txBody>
      </p:sp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D36792E9-7398-4704-B5F5-254C5C57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384048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Numerical input range</a:t>
            </a:r>
            <a:endParaRPr sz="1000"/>
          </a:p>
        </p:txBody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DC3650E6-11CD-498B-8D04-1AABD13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62d7f2b204a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4937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7" name="Text 26">
            <a:extLst xmlns:a="http://schemas.openxmlformats.org/drawingml/2006/main">
              <a:ext uri="{FF2B5EF4-FFF2-40B4-BE49-F238E27FC236}">
                <a16:creationId xmlns:a16="http://schemas.microsoft.com/office/drawing/2014/main" id="{A9DC7BF4-B6AD-4EFF-A8E1-4111C72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9204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Dropdown</a:t>
            </a:r>
            <a:endParaRPr sz="1200"/>
          </a:p>
        </p:txBody>
      </p:sp>
      <p:sp>
        <p:nvSpPr>
          <p:cNvPr id="38" name="Text 27">
            <a:extLst xmlns:a="http://schemas.openxmlformats.org/drawingml/2006/main">
              <a:ext uri="{FF2B5EF4-FFF2-40B4-BE49-F238E27FC236}">
                <a16:creationId xmlns:a16="http://schemas.microsoft.com/office/drawing/2014/main" id="{939BB7F6-16A3-4DA4-AFB5-B94EA64C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Pilih dari list option</a:t>
            </a:r>
            <a:endParaRPr sz="1000"/>
          </a:p>
        </p:txBody>
      </p:sp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7B8E3727-E48A-4CE5-A20C-949C8EC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480060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7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704c9e22f4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7792" y="4937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29">
            <a:extLst xmlns:a="http://schemas.openxmlformats.org/drawingml/2006/main">
              <a:ext uri="{FF2B5EF4-FFF2-40B4-BE49-F238E27FC236}">
                <a16:creationId xmlns:a16="http://schemas.microsoft.com/office/drawing/2014/main" id="{F92862D2-98BA-40A8-96C7-208A55BF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489204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Checkbox</a:t>
            </a:r>
            <a:endParaRPr sz="1200"/>
          </a:p>
        </p:txBody>
      </p:sp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09567B21-CAB0-4530-B4B0-C7CFF2E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539496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Boolean input/output</a:t>
            </a:r>
            <a:endParaRPr sz="1000"/>
          </a:p>
        </p:txBody>
      </p:sp>
      <p:sp>
        <p:nvSpPr>
          <p:cNvPr id="43" name="Shape 31">
            <a:extLst xmlns:a="http://schemas.openxmlformats.org/drawingml/2006/main">
              <a:ext uri="{FF2B5EF4-FFF2-40B4-BE49-F238E27FC236}">
                <a16:creationId xmlns:a16="http://schemas.microsoft.com/office/drawing/2014/main" id="{EF6994BA-250A-4A04-9CAD-20EFB09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480060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11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8dd213759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1224" y="4937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82AC7210-0E79-43F0-A54D-6982F04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489204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Dataframe</a:t>
            </a:r>
            <a:endParaRPr sz="1200"/>
          </a:p>
        </p:txBody>
      </p:sp>
      <p:sp>
        <p:nvSpPr>
          <p:cNvPr id="46" name="Text 33">
            <a:extLst xmlns:a="http://schemas.openxmlformats.org/drawingml/2006/main">
              <a:ext uri="{FF2B5EF4-FFF2-40B4-BE49-F238E27FC236}">
                <a16:creationId xmlns:a16="http://schemas.microsoft.com/office/drawing/2014/main" id="{52A17814-E5AF-4369-A212-791AA34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539496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Display tabular data</a:t>
            </a:r>
            <a:endParaRPr sz="1000"/>
          </a:p>
        </p:txBody>
      </p:sp>
      <p:sp>
        <p:nvSpPr>
          <p:cNvPr id="47" name="Shape 34">
            <a:extLst xmlns:a="http://schemas.openxmlformats.org/drawingml/2006/main">
              <a:ext uri="{FF2B5EF4-FFF2-40B4-BE49-F238E27FC236}">
                <a16:creationId xmlns:a16="http://schemas.microsoft.com/office/drawing/2014/main" id="{928C0BFA-0C3B-493F-8AC4-3D41ED4E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480060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1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d2f4c11944a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656" y="4937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25352188-9D07-4A4B-B10F-CA9B827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489204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Chatbot</a:t>
            </a:r>
            <a:endParaRPr sz="1200"/>
          </a:p>
        </p:txBody>
      </p:sp>
      <p:sp>
        <p:nvSpPr>
          <p:cNvPr id="50" name="Text 36">
            <a:extLst xmlns:a="http://schemas.openxmlformats.org/drawingml/2006/main">
              <a:ext uri="{FF2B5EF4-FFF2-40B4-BE49-F238E27FC236}">
                <a16:creationId xmlns:a16="http://schemas.microsoft.com/office/drawing/2014/main" id="{7072B95E-7BA3-45FE-9D0C-2E78863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539496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Conversational UI</a:t>
            </a:r>
            <a:endParaRPr sz="1000"/>
          </a:p>
        </p:txBody>
      </p:sp>
      <p:sp>
        <p:nvSpPr>
          <p:cNvPr id="51" name="Shape 37">
            <a:extLst xmlns:a="http://schemas.openxmlformats.org/drawingml/2006/main">
              <a:ext uri="{FF2B5EF4-FFF2-40B4-BE49-F238E27FC236}">
                <a16:creationId xmlns:a16="http://schemas.microsoft.com/office/drawing/2014/main" id="{2EA65A1F-030C-45BD-A77B-D5E0F2DB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800600"/>
            <a:ext cx="21945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19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49e261f0d41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8088" y="4937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3" name="Text 38">
            <a:extLst xmlns:a="http://schemas.openxmlformats.org/drawingml/2006/main">
              <a:ext uri="{FF2B5EF4-FFF2-40B4-BE49-F238E27FC236}">
                <a16:creationId xmlns:a16="http://schemas.microsoft.com/office/drawing/2014/main" id="{7C34306D-BF74-4BDC-8B39-D69C9E9C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4892040"/>
            <a:ext cx="1508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Plot</a:t>
            </a:r>
            <a:endParaRPr sz="1200"/>
          </a:p>
        </p:txBody>
      </p:sp>
      <p:sp>
        <p:nvSpPr>
          <p:cNvPr id="54" name="Text 39">
            <a:extLst xmlns:a="http://schemas.openxmlformats.org/drawingml/2006/main">
              <a:ext uri="{FF2B5EF4-FFF2-40B4-BE49-F238E27FC236}">
                <a16:creationId xmlns:a16="http://schemas.microsoft.com/office/drawing/2014/main" id="{1BB48D09-1424-4136-9D7A-098F696D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394960"/>
            <a:ext cx="1920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Matplotlib/Plotly chart</a:t>
            </a:r>
            <a:endParaRPr sz="1000"/>
          </a:p>
        </p:txBody>
      </p:sp>
      <p:sp>
        <p:nvSpPr>
          <p:cNvPr id="55" name="Text 40">
            <a:extLst xmlns:a="http://schemas.openxmlformats.org/drawingml/2006/main">
              <a:ext uri="{FF2B5EF4-FFF2-40B4-BE49-F238E27FC236}">
                <a16:creationId xmlns:a16="http://schemas.microsoft.com/office/drawing/2014/main" id="{C10A0E7D-B849-4E59-89DE-641BB0AA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gr.Interface untuk simple, gr.Blocks untuk layout custom (multi-tab, conditional, complex flow).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12355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BCA1AC-1812-4FA2-AFA3-17D4B96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921DB0-21D6-444C-ACD6-72D8BB1F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8435CB-E6A6-4685-8214-C9DF527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a23490fd4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573ae68c44d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ADDB184-50A2-48D8-8C2D-E9AFDF3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DE42BD2-3F07-4BC6-8AEC-B86ED26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Gradio Examples - Dari Basic ke Production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F7129A3-1A81-4986-BE4B-664A0AE6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Side-by-side: simple greeting vs ML model wrapper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7F22DDB-C503-422F-834E-AE7719EB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E4E465A-C42C-4BC6-854B-35824617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F90BC1D-A8CB-4AE0-B392-ED238336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C67A2B7-F961-4B20-AA6E-E6AE1AC8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8322DD1-D033-44E8-BF4F-84896699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0BCAC57-ADDD-4D30-A009-9279974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Hello World (4 baris!)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5CD31112-947D-4E59-832B-12FF3389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greet(name, intensity):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"Hello " + name + "!" * intensity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demo = gr.Interface(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fn=greet,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inputs=[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gr.Textbox(label="Name"),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gr.Slider(1, 5, value=1)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],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outputs="text",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title="Greeting Bot",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examples=[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["Budi", 3],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["Ani", 1]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demo.launch()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553099A-2389-4EF5-AD57-68AB17D3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4E52907F-C871-4354-A087-AD28BFE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9D8F5A8-DAEC-4E17-9751-EB596981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47B486F-5AA7-450E-A895-0D4B400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4C8BF61-EEDA-4594-AF5C-35D2395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E15392FD-720C-4881-AEF2-1B99E9F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ML Wrapper - Image Classifier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C588039-FF93-4200-91AD-2B0A142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transformers import pipeline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Load model 1x saat startup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classifier = pipeline(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"image-classification",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model="google/vit-base-patch16-224"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predict(image):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results = classifier(image)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{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r["label"]: r["score"]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for r in results[:5]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gr.Interface(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fn=predict,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inputs=gr.Image(type="pil"),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outputs=gr.Label(num_top_classes=5)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).launch()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13232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31C3BE-D15D-48A9-9E79-D49397D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A97921B-18E0-4F68-9CBE-296B9D6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2032B9-F211-42DC-A749-33A06763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8D6BD3-EAE2-45E6-AB9A-3AF077DC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7991F47-E1A9-4B03-9F4D-6BC46AD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13D1B3-7924-4D8E-90C1-7722B37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A9BF4B3-2EFE-45FE-9CBE-66F53128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335d597dc4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32e5f1c68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41FCD0D-3EED-466E-99C8-A4D44CE6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A2F5E4C-ECB6-4883-9290-49A4394E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Streamlit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Alternatives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71D6507-BC6E-4AAB-B76A-3D2B76EE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27E000F-131B-4EA1-84EE-F532A48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Untuk data dashboard + multi-page app yang lebih kompleks.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41927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52A39-C985-41F3-9565-F69ACBBE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B205FE-D27F-45B1-8CDA-C62F899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52151F-199C-4197-81AB-D475ED2D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9ec9397474c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96b919781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02205A-1D07-4926-ABDF-2709CE73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78989BD-6AB8-4218-84F3-16E44FB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Streamlit - Data App Framework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5F48A57-C438-4D16-84DD-B50A601B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Mirip Gradio tapi lebih cocok untuk dashboard + multi-page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031279-0858-44D8-9360-015D3B86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9636A90-CCB1-4787-ADE8-3067029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Filosofi: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Script Python top-to-bottom yang re-run setiap user interaction. Reactive by default.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Punya widget lengkap (chart, table, form, file_uploader, camera_input). Cocok untuk analytics dashboard.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9C08C72-9162-4396-9FF5-40D1B028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A726B6F-13B6-4B7F-8786-5122ED9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0D47210-0DC5-4481-9395-F507F12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04C7F10-AEC3-45C5-80E5-68D6625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EEF63B-5116-459E-B606-02851B3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5590AF4-10C4-434F-9E01-6685F3B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Streamlit example - sentiment dashboard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6BE393E-BD29-446E-A698-AB3A9A0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streamlit as st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transformers import pipeline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pandas as pd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@st.cache_resource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load_model():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pipeline("sentiment-analysis")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st.title("Sentiment Analyzer")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uploaded = st.file_uploader("CSV")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if uploaded: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df = pd.read_csv(uploaded)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nlp = load_model()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df["sentiment"] = df["text"].apply(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lambda x: nlp(x)[0]["label"]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st.dataframe(df)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st.bar_chart(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df["sentiment"].value_counts()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29F247F5-3075-42A4-9563-14EAB723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80E7AEA-84E5-4487-9328-A72055AD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Streamlit Strengths</a:t>
            </a:r>
            <a:endParaRPr sz="1300"/>
          </a:p>
        </p:txBody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035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A9820030-0397-478E-97C3-88B63888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9718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Widget lengkap (date_input, color_picker, map)</a:t>
            </a:r>
            <a:endParaRPr sz="1100"/>
          </a:p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4930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B99D9CE-124A-4488-986C-3DD89A87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4290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Auto-reactive: ubah widget = re-run script</a:t>
            </a:r>
            <a:endParaRPr sz="1100"/>
          </a:p>
        </p:txBody>
      </p:sp>
      <p:pic>
        <p:nvPicPr>
          <p:cNvPr id="6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9502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B14AE018-7500-4824-9128-8EBC5F23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8862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@st.cache untuk hindari recompute mahal</a:t>
            </a:r>
            <a:endParaRPr sz="1100"/>
          </a:p>
        </p:txBody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4074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68309B2F-C620-4C21-8F95-5FEF941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3434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Multi-page apps (pages/ folder)</a:t>
            </a:r>
            <a:endParaRPr sz="1100"/>
          </a:p>
        </p:txBody>
      </p:sp>
      <p:pic>
        <p:nvPicPr>
          <p:cNvPr id="7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8646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D265012C-4215-4085-A6A4-689437F4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8006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Session state untuk persist data per user</a:t>
            </a:r>
            <a:endParaRPr sz="1100"/>
          </a:p>
        </p:txBody>
      </p:sp>
      <p:pic>
        <p:nvPicPr>
          <p:cNvPr id="73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fc5611fa8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321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15EE5476-579C-43E5-B7D2-3FD3572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2578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Built-in chart (Altair, Plotly, matplotlib)</a:t>
            </a:r>
            <a:endParaRPr sz="1100"/>
          </a:p>
        </p:txBody>
      </p:sp>
      <p:pic>
        <p:nvPicPr>
          <p:cNvPr id="7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21e42fc0044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7790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4" name="Text 23">
            <a:extLst xmlns:a="http://schemas.openxmlformats.org/drawingml/2006/main">
              <a:ext uri="{FF2B5EF4-FFF2-40B4-BE49-F238E27FC236}">
                <a16:creationId xmlns:a16="http://schemas.microsoft.com/office/drawing/2014/main" id="{ADA54D9B-FE38-4F62-BAEE-43D9B9DD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7150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Tidak ideal untuk pure ML demo (Gradio menang)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381953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F97631-1734-41DF-BB05-E8575EE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CAC691-1C5F-4C53-9332-92507BDD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5243D1-8EDA-4F93-A84E-6821274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22a146f594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4a6cc65e344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2C69AD8-2447-4F81-9F3B-9CC755C1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F750358-8C19-431E-9BC4-859E1B4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Gradio vs Streamlit - Pilih yang Tepat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151622F-CAD0-46A2-923C-C19B63E3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Dua-duanya bagus, tapi untuk use case berbeda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65320F7-420D-443D-B4B7-B3618ACF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88621D7-50B5-41DF-9C8E-2A9D2CF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2700">
            <a:solidFill>
              <a:srgbClr val="F97316"/>
            </a:solidFill>
            <a:prstDash val="solid"/>
          </a:ln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e7ba2ad50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0E6F738-D531-4D8F-B548-4AB4A84A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41732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</a:t>
            </a:r>
            <a:endParaRPr sz="16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C8F55B7A-A084-44DD-88B8-57465CB4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3FC0772-4353-4A3C-B467-7F3B084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Pattern:</a:t>
            </a:r>
            <a:endParaRPr sz="11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03A0171-237D-4758-AF35-0FE512A1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Function -&gt; UI auto-gen</a:t>
            </a:r>
            <a:endParaRPr sz="11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7502661-8610-4F2D-A674-A3A76236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39609AAA-3A20-4ABE-B8BA-45D5D35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Best for:</a:t>
            </a:r>
            <a:endParaRPr sz="11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D852A6F3-1B89-4AE5-89D1-8A6F6AC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9748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model demo</a:t>
            </a:r>
            <a:endParaRPr sz="11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4EA458B-E8A1-457C-A8E2-06A0D94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340009B-47F5-4094-937E-C71524E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Learning:</a:t>
            </a:r>
            <a:endParaRPr sz="11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329820B8-86C9-488F-9C7A-5B0DF58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20040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 menit</a:t>
            </a:r>
            <a:endParaRPr sz="1100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53187FB7-0FB0-4846-8DAD-8C4C853B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89E7F115-9DF3-4F00-8F4D-FB353BE4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Layout:</a:t>
            </a:r>
            <a:endParaRPr sz="110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21C2B44-563B-4941-BF12-577C06B4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70332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Sederhana (Interface/Blocks)</a:t>
            </a:r>
            <a:endParaRPr sz="1100"/>
          </a:p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76C642F9-D71E-4F86-914C-DC879113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318E6601-018A-4582-B838-3ED56163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Hot reload:</a:t>
            </a:r>
            <a:endParaRPr sz="1100"/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11CB1A44-DFE3-4E52-889A-8F44DF4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20624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</a:t>
            </a:r>
            <a:endParaRPr sz="1100"/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F02F4060-4A00-4CC8-AC35-3FDFC57E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0916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505DED81-F6EC-4ADE-BA93-DC26D9D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0916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HF integration:</a:t>
            </a:r>
            <a:endParaRPr sz="1100"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FF40D9F6-A639-477D-9D85-C9E2DDDD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70916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First-class (own by HF)</a:t>
            </a:r>
            <a:endParaRPr sz="11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A43753F8-2C5D-4FD1-BD26-990209FA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C84DCA9D-4B6E-4094-95E7-8C75FCC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Mobile UX:</a:t>
            </a:r>
            <a:endParaRPr sz="1100"/>
          </a:p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F0F1905-0F44-49AF-86F5-D636D785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21208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Bagus</a:t>
            </a:r>
            <a:endParaRPr sz="1100"/>
          </a:p>
        </p:txBody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48D6BF3C-9BA1-49B9-BBF9-8CCB374F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15000"/>
            <a:ext cx="52120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93215756-0220-43C1-B03B-4C428512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Custom CSS:</a:t>
            </a:r>
            <a:endParaRPr sz="1100"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2FC7CC60-4A95-4577-939E-B9B018E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715000"/>
            <a:ext cx="3337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Terbatas</a:t>
            </a:r>
            <a:endParaRPr sz="1100"/>
          </a:p>
        </p:txBody>
      </p:sp>
      <p:sp>
        <p:nvSpPr>
          <p:cNvPr id="38" name="Shape 33">
            <a:extLst xmlns:a="http://schemas.openxmlformats.org/drawingml/2006/main">
              <a:ext uri="{FF2B5EF4-FFF2-40B4-BE49-F238E27FC236}">
                <a16:creationId xmlns:a16="http://schemas.microsoft.com/office/drawing/2014/main" id="{882CF048-7990-4E3C-99BB-80D7D59A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4">
            <a:extLst xmlns:a="http://schemas.openxmlformats.org/drawingml/2006/main">
              <a:ext uri="{FF2B5EF4-FFF2-40B4-BE49-F238E27FC236}">
                <a16:creationId xmlns:a16="http://schemas.microsoft.com/office/drawing/2014/main" id="{43F4262B-40BB-4675-8C98-ABBB4A5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12700">
            <a:solidFill>
              <a:srgbClr val="FF4B4B"/>
            </a:solidFill>
            <a:prstDash val="solid"/>
          </a:ln>
        </p:spPr>
      </p:sp>
      <p:pic>
        <p:nvPicPr>
          <p:cNvPr id="10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23993b061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AF91D7B4-7CE6-4676-B36F-BE4126E3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417320"/>
            <a:ext cx="4663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Streamlit</a:t>
            </a:r>
            <a:endParaRPr sz="16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8E77E214-B34C-4981-9754-E21B253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456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AFA0F1EA-5901-4F34-ADD7-EC63BA1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9456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Pattern:</a:t>
            </a:r>
            <a:endParaRPr sz="1100"/>
          </a:p>
        </p:txBody>
      </p:sp>
      <p:sp>
        <p:nvSpPr>
          <p:cNvPr id="44" name="Text 38">
            <a:extLst xmlns:a="http://schemas.openxmlformats.org/drawingml/2006/main">
              <a:ext uri="{FF2B5EF4-FFF2-40B4-BE49-F238E27FC236}">
                <a16:creationId xmlns:a16="http://schemas.microsoft.com/office/drawing/2014/main" id="{D76B6E34-0452-49C6-9AB1-C30EC837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19456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Script top-to-bottom</a:t>
            </a:r>
            <a:endParaRPr sz="1100"/>
          </a:p>
        </p:txBody>
      </p:sp>
      <p:sp>
        <p:nvSpPr>
          <p:cNvPr id="45" name="Shape 39">
            <a:extLst xmlns:a="http://schemas.openxmlformats.org/drawingml/2006/main">
              <a:ext uri="{FF2B5EF4-FFF2-40B4-BE49-F238E27FC236}">
                <a16:creationId xmlns:a16="http://schemas.microsoft.com/office/drawing/2014/main" id="{4347645C-4486-4743-95FC-858A31E3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Text 40">
            <a:extLst xmlns:a="http://schemas.openxmlformats.org/drawingml/2006/main">
              <a:ext uri="{FF2B5EF4-FFF2-40B4-BE49-F238E27FC236}">
                <a16:creationId xmlns:a16="http://schemas.microsoft.com/office/drawing/2014/main" id="{4D3520C2-4BBA-4FAF-B117-61DB76E5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9748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Best for:</a:t>
            </a:r>
            <a:endParaRPr sz="1100"/>
          </a:p>
        </p:txBody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747261E3-B3C5-423C-A4D9-E0F9239C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69748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 dashboard</a:t>
            </a:r>
            <a:endParaRPr sz="1100"/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7629E27C-9FB5-4315-84D3-8835C3E0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040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9" name="Text 43">
            <a:extLst xmlns:a="http://schemas.openxmlformats.org/drawingml/2006/main">
              <a:ext uri="{FF2B5EF4-FFF2-40B4-BE49-F238E27FC236}">
                <a16:creationId xmlns:a16="http://schemas.microsoft.com/office/drawing/2014/main" id="{951520B0-8CCB-42AA-AF2C-3E80C07B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004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Learning:</a:t>
            </a:r>
            <a:endParaRPr sz="1100"/>
          </a:p>
        </p:txBody>
      </p:sp>
      <p:sp>
        <p:nvSpPr>
          <p:cNvPr id="50" name="Text 44">
            <a:extLst xmlns:a="http://schemas.openxmlformats.org/drawingml/2006/main">
              <a:ext uri="{FF2B5EF4-FFF2-40B4-BE49-F238E27FC236}">
                <a16:creationId xmlns:a16="http://schemas.microsoft.com/office/drawing/2014/main" id="{3682BE73-1E44-45E6-BF0E-7C5D0B07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0040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15 menit</a:t>
            </a:r>
            <a:endParaRPr sz="1100"/>
          </a:p>
        </p:txBody>
      </p:sp>
      <p:sp>
        <p:nvSpPr>
          <p:cNvPr id="51" name="Shape 45">
            <a:extLst xmlns:a="http://schemas.openxmlformats.org/drawingml/2006/main">
              <a:ext uri="{FF2B5EF4-FFF2-40B4-BE49-F238E27FC236}">
                <a16:creationId xmlns:a16="http://schemas.microsoft.com/office/drawing/2014/main" id="{2B6EAEC1-3840-4F24-9D7A-FB37C97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Text 46">
            <a:extLst xmlns:a="http://schemas.openxmlformats.org/drawingml/2006/main">
              <a:ext uri="{FF2B5EF4-FFF2-40B4-BE49-F238E27FC236}">
                <a16:creationId xmlns:a16="http://schemas.microsoft.com/office/drawing/2014/main" id="{937868E4-3532-4483-A6C5-A502C016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Layout:</a:t>
            </a:r>
            <a:endParaRPr sz="1100"/>
          </a:p>
        </p:txBody>
      </p:sp>
      <p:sp>
        <p:nvSpPr>
          <p:cNvPr id="53" name="Text 47">
            <a:extLst xmlns:a="http://schemas.openxmlformats.org/drawingml/2006/main">
              <a:ext uri="{FF2B5EF4-FFF2-40B4-BE49-F238E27FC236}">
                <a16:creationId xmlns:a16="http://schemas.microsoft.com/office/drawing/2014/main" id="{E07E8764-4063-49D1-BB72-FF59B524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70332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Fleksibel (columns, tabs)</a:t>
            </a:r>
            <a:endParaRPr sz="1100"/>
          </a:p>
        </p:txBody>
      </p:sp>
      <p:sp>
        <p:nvSpPr>
          <p:cNvPr id="54" name="Shape 48">
            <a:extLst xmlns:a="http://schemas.openxmlformats.org/drawingml/2006/main">
              <a:ext uri="{FF2B5EF4-FFF2-40B4-BE49-F238E27FC236}">
                <a16:creationId xmlns:a16="http://schemas.microsoft.com/office/drawing/2014/main" id="{0E94D2B0-4388-45A7-B866-F35DFD09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624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5" name="Text 49">
            <a:extLst xmlns:a="http://schemas.openxmlformats.org/drawingml/2006/main">
              <a:ext uri="{FF2B5EF4-FFF2-40B4-BE49-F238E27FC236}">
                <a16:creationId xmlns:a16="http://schemas.microsoft.com/office/drawing/2014/main" id="{E9A177FC-FD58-402D-9086-99B44B07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20624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Hot reload:</a:t>
            </a:r>
            <a:endParaRPr sz="1100"/>
          </a:p>
        </p:txBody>
      </p:sp>
      <p:sp>
        <p:nvSpPr>
          <p:cNvPr id="56" name="Text 50">
            <a:extLst xmlns:a="http://schemas.openxmlformats.org/drawingml/2006/main">
              <a:ext uri="{FF2B5EF4-FFF2-40B4-BE49-F238E27FC236}">
                <a16:creationId xmlns:a16="http://schemas.microsoft.com/office/drawing/2014/main" id="{9B690352-C6FB-4C9C-9275-70BCC35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20624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 on save</a:t>
            </a:r>
            <a:endParaRPr sz="1100"/>
          </a:p>
        </p:txBody>
      </p:sp>
      <p:sp>
        <p:nvSpPr>
          <p:cNvPr id="57" name="Shape 51">
            <a:extLst xmlns:a="http://schemas.openxmlformats.org/drawingml/2006/main">
              <a:ext uri="{FF2B5EF4-FFF2-40B4-BE49-F238E27FC236}">
                <a16:creationId xmlns:a16="http://schemas.microsoft.com/office/drawing/2014/main" id="{4A75E8F7-372A-470F-B866-CE392F25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8" name="Text 52">
            <a:extLst xmlns:a="http://schemas.openxmlformats.org/drawingml/2006/main">
              <a:ext uri="{FF2B5EF4-FFF2-40B4-BE49-F238E27FC236}">
                <a16:creationId xmlns:a16="http://schemas.microsoft.com/office/drawing/2014/main" id="{90AD306A-5154-4158-A0AD-6C242B51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916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HF integration:</a:t>
            </a:r>
            <a:endParaRPr sz="1100"/>
          </a:p>
        </p:txBody>
      </p:sp>
      <p:sp>
        <p:nvSpPr>
          <p:cNvPr id="59" name="Text 53">
            <a:extLst xmlns:a="http://schemas.openxmlformats.org/drawingml/2006/main">
              <a:ext uri="{FF2B5EF4-FFF2-40B4-BE49-F238E27FC236}">
                <a16:creationId xmlns:a16="http://schemas.microsoft.com/office/drawing/2014/main" id="{E7AB1920-ED24-4E29-ABC9-232499A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70916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Full support di Spaces</a:t>
            </a:r>
            <a:endParaRPr sz="1100"/>
          </a:p>
        </p:txBody>
      </p:sp>
      <p:sp>
        <p:nvSpPr>
          <p:cNvPr id="60" name="Shape 54">
            <a:extLst xmlns:a="http://schemas.openxmlformats.org/drawingml/2006/main">
              <a:ext uri="{FF2B5EF4-FFF2-40B4-BE49-F238E27FC236}">
                <a16:creationId xmlns:a16="http://schemas.microsoft.com/office/drawing/2014/main" id="{6382706C-40B9-434B-BBFF-6503D041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1" name="Text 55">
            <a:extLst xmlns:a="http://schemas.openxmlformats.org/drawingml/2006/main">
              <a:ext uri="{FF2B5EF4-FFF2-40B4-BE49-F238E27FC236}">
                <a16:creationId xmlns:a16="http://schemas.microsoft.com/office/drawing/2014/main" id="{BD116356-9CB0-4889-88A3-3DCAF50F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21208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Mobile UX:</a:t>
            </a:r>
            <a:endParaRPr sz="1100"/>
          </a:p>
        </p:txBody>
      </p:sp>
      <p:sp>
        <p:nvSpPr>
          <p:cNvPr id="62" name="Text 56">
            <a:extLst xmlns:a="http://schemas.openxmlformats.org/drawingml/2006/main">
              <a:ext uri="{FF2B5EF4-FFF2-40B4-BE49-F238E27FC236}">
                <a16:creationId xmlns:a16="http://schemas.microsoft.com/office/drawing/2014/main" id="{82CA6480-787D-4186-B481-9BFED9E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21208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OK</a:t>
            </a:r>
            <a:endParaRPr sz="1100"/>
          </a:p>
        </p:txBody>
      </p:sp>
      <p:sp>
        <p:nvSpPr>
          <p:cNvPr id="63" name="Shape 57">
            <a:extLst xmlns:a="http://schemas.openxmlformats.org/drawingml/2006/main">
              <a:ext uri="{FF2B5EF4-FFF2-40B4-BE49-F238E27FC236}">
                <a16:creationId xmlns:a16="http://schemas.microsoft.com/office/drawing/2014/main" id="{11C2A3D2-050E-47F6-9B46-219DA7CA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1500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64" name="Text 58">
            <a:extLst xmlns:a="http://schemas.openxmlformats.org/drawingml/2006/main">
              <a:ext uri="{FF2B5EF4-FFF2-40B4-BE49-F238E27FC236}">
                <a16:creationId xmlns:a16="http://schemas.microsoft.com/office/drawing/2014/main" id="{2D3EA742-09E8-4E8C-83C7-17C69A4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7150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4B4B"/>
                </a:solidFill>
                <a:latin typeface="Calibri"/>
                <a:ea typeface="Calibri"/>
                <a:cs typeface="Calibri"/>
              </a:rPr>
              <a:t>Custom CSS:</a:t>
            </a:r>
            <a:endParaRPr sz="1100"/>
          </a:p>
        </p:txBody>
      </p:sp>
      <p:sp>
        <p:nvSpPr>
          <p:cNvPr id="65" name="Text 59">
            <a:extLst xmlns:a="http://schemas.openxmlformats.org/drawingml/2006/main">
              <a:ext uri="{FF2B5EF4-FFF2-40B4-BE49-F238E27FC236}">
                <a16:creationId xmlns:a16="http://schemas.microsoft.com/office/drawing/2014/main" id="{AFD1671B-1B64-4CD4-9523-1CE8BF8C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715000"/>
            <a:ext cx="3246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Bagus (markdown + HTML)</a:t>
            </a:r>
            <a:endParaRPr sz="1100"/>
          </a:p>
        </p:txBody>
      </p:sp>
      <p:sp>
        <p:nvSpPr>
          <p:cNvPr id="66" name="Text 60">
            <a:extLst xmlns:a="http://schemas.openxmlformats.org/drawingml/2006/main">
              <a:ext uri="{FF2B5EF4-FFF2-40B4-BE49-F238E27FC236}">
                <a16:creationId xmlns:a16="http://schemas.microsoft.com/office/drawing/2014/main" id="{81E0D7E5-1F59-4AC4-8593-5F2A5B1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Default kuliah: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untuk image classifier + NLP demo (Praktikum 9). Streamlit untuk dashboard analitik.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847425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141EAF-EA52-4082-B806-E3EA6AF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FBF8B-03F7-42FF-A85B-D0C9BC3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494BF1-E0CE-416F-AA92-B7C23646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2AC9473-E8A4-470D-AD63-5615BC7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11D472-40E3-44B9-B145-3741512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9AD084-27C5-48E4-8B91-A03A2CA7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066250-9538-42F7-B0EC-FDF11FF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2c83e89f6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efc5fd7ef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06E4C7E-0A08-4E4D-A61B-EEB4F1D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76668C0-0FDC-4EE5-B749-7F8A51A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Spaces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07367A9-1D6E-4535-AFE9-C73F649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AD7EF60-BAEF-41D9-AB09-F2B30528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Push code via git -&gt; auto build -&gt; live URL.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485803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76CB82-5C42-4C5E-91F4-4513F559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D5CCAA-4BD6-4160-944C-472A4427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7ACC9BC-0545-4A21-ABA6-889BC211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892c6b769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43d1ac0e0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1B40364-5DB5-4886-9FFB-5BBEA00E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15FD6C5-0293-4150-B5FF-2C33FE5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Deploy ke Spaces (jika akun memenuhi syarat)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257FFCA-3412-4F48-9CF9-3021A7A6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Mirip GitHub - clone, edit, commit, push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3EA946D-2667-4BFF-8333-391015A8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937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DD53FAB-7105-4B84-94A8-F805E99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7D1663C-4021-4D50-8A2F-0D48FF8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DD3CAC1-74F4-4002-9EEB-427DDCA4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77EDEDC-0A03-48F5-A4B3-6609A1D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CBF3A71-3340-47BC-98F5-C8BF2C59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Full deploy workflow - dari kosong ke live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99C90ED-B4AE-48AB-83C4-727E937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1. Clone empty Space (yang sudah dibuat via dashboard / CLI)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clone https://huggingface.co/spaces/budijuarto/my-classifier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my-classifier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2. Tambah app.py (entry point Gradio/Streamlit)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 &gt; app.py &lt;&lt; EOF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from transformers import pipeline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clf = pipeline('sentiment-analysis')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def predict(text): return clf(text)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gr.Interface(predict, 'text', 'label').launch()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EOF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3. Tambah requirements.txt (WAJIB)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echo -e 'gradio\ntransformers\ntorch\nPillow' &gt; requirements.txt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4. Commit + push - HF auto-build container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add app.py requirements.txt &amp;&amp; git commit -m 'Initial deploy'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git push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Build started... installing requirements (durasi bergantung model dan jaringan)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Build successful! Running at https://huggingface.co/spaces/budijuarto/my-classifier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558225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E04082-395F-4A1D-BBFE-8A6F1EE2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B7B31A-848F-4810-8C3E-C4BB00D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D21819-CF12-4370-A8B4-739D32C9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3588c2fca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b84884ce6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DF4EECD-5E3E-4ED2-BD70-10657AB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4EA4827-1410-4CFF-9284-9E592D4B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File Wajib di Space Repo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6986160-2D96-4AB9-AA55-30B792E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app.py + requirements.txt + README.md (metadata)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BC37C3B-FFAF-4430-BBA2-4AB03CE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65760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8FDBD30-E53C-45D5-96F1-CBF61DB6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657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A06DF03-34E1-4A25-A4BB-D3CCD23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D8DD591-75EB-4538-A515-483DF7C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1F03DEB-1D1E-47D3-9688-39D9CEEC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F085285-6DE2-4734-AF2D-EA4A84BE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app.py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6E5E4AE-9645-410B-A06A-99FE099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832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Entry point - HF detect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'app.py' otomatis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fn(x):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x.upper()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demo = gr.Interface(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fn=fn,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inputs="text",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outputs="text"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demo.launch()</a:t>
            </a:r>
            <a:endParaRPr sz="11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5D6FD633-A8BC-4706-A836-DA8BE736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65760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EB30FA3-8CD0-4D6B-947F-1F6E4947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417320"/>
            <a:ext cx="3657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50E0634-3358-4D53-AC97-47B8A3A9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BD93C95E-81F7-463F-A3E6-BC7F9E7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62AFD9D-858D-4F1B-97AE-843FC3A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CF9F36F-5EC2-41A7-8BF7-69CFF37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173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requirements.txt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8188788-9973-4EEA-94FF-B7A92397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33832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Pin version untuk stable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gradio==4.44.0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transformers==4.45.2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torch==2.5.1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Pillow==10.4.0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numpy==1.26.4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Optional: spesifik CUDA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--extra-index-url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https://download.pytorch.org/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whl/cu121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Tidak perlu install gradio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kalau SDK = gradio (HF auto)</a:t>
            </a:r>
            <a:endParaRPr sz="11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1BA984C-93BD-46F6-AA21-8AA51D0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65760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0C51B4E5-2AC5-4200-931F-952786AC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6576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927055-1BC6-4767-AE3B-FEE5C6A1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365AFFC-52C4-43D2-BF15-A76EB755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4139FC3-2FEA-4BEF-AAC9-920D95D7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C7D2DBB-54F1-45BD-9FA7-9E7BE472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4173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README.md (frontmatter)</a:t>
            </a:r>
            <a:endParaRPr sz="9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7955E0A-A439-4584-BEFB-63A6A59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83080"/>
            <a:ext cx="33832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---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title: My Classifier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emoji: 🤖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colorFrom: blue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colorTo: orange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sdk: gradio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sdk_version: 4.44.0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app_file: app.py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pinned: false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license: mit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---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# My Image Classifier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ViT model classifier untuk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ImageNet 1000 classes.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322936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7D0A74-DAEC-4900-A231-A1176FC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DA72AA-885C-4525-812B-4FF7A22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5A1A72-F74B-42CE-AB31-B35C2D90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a590040a49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8f253138949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26248F8-8F30-447E-9A8F-65884FB9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AA9EC93-9B84-4D37-B657-D952F57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Hardware Tiers - CPU vs GPU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C64DA0F-A063-43C9-B3CB-73362FA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CPU Basic memiliki tarif komputasi $0/jam, tetapi akses membuat Gradio/Docker Space memiliki syarat paket akun.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F8FD150-2C53-4E20-A543-61E87E61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4A553E6-ADB0-471D-93A9-CF422AE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2902B6C-2176-4013-9AD2-A8EE1C8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CPU Basic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35BC436-6501-430C-98BA-7185369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$0</a:t>
            </a:r>
            <a:endParaRPr sz="2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96F9BAF-55FB-4DCD-852A-0D6ECE74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2 vCPU, 16 GB RAM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60B25A-7826-4055-A3E3-E34E19A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BERT-base inference OK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Small image classifier OK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Cold start ~30 detik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Sleep after 48h idle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Cocok: demo + portfolio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FEA58F6-4429-4EDE-8451-9437EF3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23317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C36C99-B3E2-4B26-8100-AF4F8C8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OPSIONAL CLOUD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D07A082-26BA-4A19-98C5-3E05D77E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8BE6279-D3BE-4ED7-8FF0-0AA6B001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9F89038-985C-4E6E-BA78-1C39BF92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Upgraded CPU</a:t>
            </a:r>
            <a:endParaRPr sz="15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018A56D-EDD2-4201-908C-DB743653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82880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$0.03/h</a:t>
            </a:r>
            <a:endParaRPr sz="2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13099D5-B499-4822-BAFB-3C9C07E6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94560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8 vCPU, 32 GB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C694B26-DFB1-41BE-B885-4747B051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Larger BERT/T5 model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Multi-user concurrent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sleep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~$22/bln always-on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Cocok: low-traffic prod</a:t>
            </a:r>
            <a:endParaRPr sz="10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8FCC0EA8-EF5A-41F1-AC69-AEE43F7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661420CB-0096-4142-965A-2E8A9B1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E5E53B7-5F4D-42E6-B2A9-97C0C91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T4 GPU (small)</a:t>
            </a:r>
            <a:endParaRPr sz="15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3405EAE-6324-4E0C-A1B7-04455B4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82880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$0.40/h</a:t>
            </a:r>
            <a:endParaRPr sz="22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7570B150-13A7-4870-8A94-5D11BFB0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194560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T4 16 GB VRAM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5B11DE6C-2DAD-4222-B406-9FA1D0C7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Stable Diffusion (slow)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 7B quantized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Biaya tergantung jam aktif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Sleep saat idle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Cocok: ML demo serius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3C99989-CE63-46B8-A389-910B179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40B7A77B-F13F-4889-9FD9-961A835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FBC0B8C-2D89-4374-A2D7-763EB63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6304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A10G / A100</a:t>
            </a:r>
            <a:endParaRPr sz="15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0C81DCA-0835-4CA9-83A6-41AE5CDF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828800"/>
            <a:ext cx="2697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Cek tarif resmi</a:t>
            </a:r>
            <a:endParaRPr sz="22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F14B39C-7040-4E66-8207-1F49956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194560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24-80 GB VRAM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ABAA6717-970F-4FEC-934A-EB2230D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Llama 70B inference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FLUX image gen cepat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Production LLM serving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Pay-as-go via Endpoints</a:t>
            </a:r>
            <a:endParaRPr sz="1050"/>
          </a:p>
          <a:p xmlns:a="http://schemas.openxmlformats.org/drawingml/2006/main">
            <a:pPr marL="342900" indent="-342900">
              <a:spcAft>
                <a:spcPts val="500"/>
              </a:spcAft>
              <a:buSzPct val="100000"/>
              <a:buChar char="▸"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Cocok: production scale</a:t>
            </a:r>
            <a:endParaRPr sz="105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6262AD36-152D-4F64-BACB-1F42888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Tip: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Jika compute Space tidak tersedia, jalankan Gradio lokal; GPU bersifat opsional.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078957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33983A-2626-49F0-817D-50C74ED5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748745-6E64-47F2-A95E-5D01E481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BAE9EA-51B7-4C9E-9298-3745C41F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A94FD3-270D-465F-AA7C-43440433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ED0E0D8-2195-4DEE-B8F4-2C58BF0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ACD163-AE8A-4F6A-AD39-A984C6C4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8251C98-909A-49C4-AA2D-AA6D3CB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dba491ddb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d47c2ed2b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FCB0D98-63D9-4A7E-B5B2-F8924A06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BB3E54A-2ACC-4F1D-A5A9-73950107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 API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Endpoints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64D337A-1718-409D-ACC0-4D8FE1AA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7718471-14D8-4352-9BF9-14D1CB2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Beyond demo: panggil model dari aplikasi production.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729970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AA1004-C4EF-4350-965C-BEDD7B2B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EBB7F4-1463-4990-A56A-40BB4CD3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37C8475-BF3C-45F7-B078-309AB28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6d8afcaf54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e4b13c77742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01197CE-044E-491C-B45B-B98CF72C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77E501A-0FAB-44AD-A776-9B2F3348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Inference Providers - cek model &amp; kuota aktif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E0C4AC8-0B3D-444F-82EF-C8ACC80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REST endpoint untuk model di Hub - tinggal panggil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C7B4273-4BF3-46D8-BFB2-0C4660A5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B18F034-9ED6-4CAC-AABC-C2487651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Magic: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Tidak semua model tersedia pada tiap provider; pilih model yang aktif pada dokumentasi.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Kuota dan latensi bergantung akun/provider; ukur sebelum dipakai di kelas.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8548383-4F5F-4755-A514-A2DB151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18504F2-0514-45DD-B6EC-958E4BA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33FEFE7-8348-4EAD-8D5A-66C4BE2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27EE667-C248-4DE8-97A4-6F5C26ED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F3CC922-CB00-453A-8BD3-31A4D5B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034433A-DAA1-4302-B873-0A442FB6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curl - test cepat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0A900AF-6D8E-49E9-95D3-45EDB5E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Inference API endpoint: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gunakan API_URL dari docs model aktif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simpan HF_TOKEN dan HF_MODEL_ID di env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curl "$API_URL"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-X POST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-H "Authorization: Bearer $HF_TOKEN"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-d '{"inputs":"I like this class"}'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[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{"label": "POSITIVE", "score": 0.99},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{"label": "NEGATIVE", "score": 0.01}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]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832B2D6-6DC6-4FB1-BD8D-CB7B7E0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4FD5126-DB81-493F-87D8-8DDAAEF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D54650B-0AE5-4A97-AF57-53D654B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A99BC81-7AC0-4878-AAC5-B3DF1C3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571467F-0406-4B56-9BDE-B1D74CB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7024064-D276-4375-A62A-601026C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Python client - production-ish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367AA4E-3CDD-43BF-94E6-A96B3C2F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os; from huggingface_hub import InferenceClient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 = InferenceClient(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  api_key=os.environ["HF_TOKEN"]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Text classification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result = client.text_classification(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"I like this class",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model=os.environ["HF_MODEL_ID"]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023102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B19D4E9-A2E6-4F46-B650-98B404B4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4F34F8-44F1-4166-B5BB-2FCAB07D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590BC8-7125-4D8F-97E4-44C38560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30e72f79b46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3d06a84d6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8625A69-7057-4FDE-8CB5-52C0F33B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6D45709-CFD9-4328-8039-B20BB76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Inference Endpoints - Private Production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CEAAC52-5BCD-4346-96AA-1758C351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Dedicated infra untuk private model + custom SLA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ACBECAE-0318-4F07-B217-44882B2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CB72282-2795-436A-A94F-A4479A4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Kapan butuh: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private model, latensi rendah, throughput tinggi, atau model yang tidak tersedia pada Inference Providers.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Biaya mengikuti hardware dan pemakaian; cek halaman harga serta opsi penskalaan yang berlaku.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42950EC-A57B-411C-98F6-052AB2D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Inference API vs Inference Endpoints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64CEF0E-9668-48BB-BCBC-E9DBF5E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4712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42ECF8B-A9B7-4D92-9791-32E9030F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7F0171A-3BE4-4330-A41D-9B89FAA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Aspect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2036ACC-AC99-4F8A-A148-E451839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Inference Providers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CE8EACC-29CE-4DEE-8909-3BECF25C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Inference Endpoints (paid)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3BFFCBB-760D-42AB-9D6B-8EC50D99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63167FC-64BE-409F-8564-FC5135E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Pricing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7B386B9-353B-44A9-9E91-BECDB314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832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kuota akun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4DE711D-93FF-42D3-8EB8-393FC7A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832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tarif aktif</a:t>
            </a:r>
            <a:endParaRPr sz="11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7429B36-591C-4CC2-B5D5-7E23D26E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9F6C505-C3BC-4323-9893-D7A9615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Model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375BEE2-06AF-436C-BE7C-6AC791A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404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Hanya yang di Hub public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8C9D5BE-90D3-4789-9A05-2D41927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04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Public + private model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3C5A35-8D0B-4531-B2D7-5B5686E4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AB20FF9-ABAB-436C-9010-0A89440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Latency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71A08F1-EE33-48F0-8E9B-BD5E80E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976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Cold start sering</a:t>
            </a:r>
            <a:endParaRPr sz="11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9BF53FCE-C3F5-4448-8DEE-B5B745DE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976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Always-warm option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06E7105-47EC-4913-856C-0EA0B75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2D29AA0-37CF-419A-919B-71FBE3BC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SLA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5808379-D747-4BCD-9D18-9370C8A2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754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Best effort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DB8A12A-19E6-498D-8B68-5A4D036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548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kontrak SLA</a:t>
            </a:r>
            <a:endParaRPr sz="11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399EC24-EC15-4A46-9152-2074948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F9DE6C61-250C-4B10-91BE-4C0BEF4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Scale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7AD62146-5446-4C84-8110-5D3C46B5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2120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Shared, rate-limited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A761B5D-8C5A-449D-9363-0655FFE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20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Dedicated, auto-scale</a:t>
            </a:r>
            <a:endParaRPr sz="11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FD88E5E3-74B4-4746-864B-69F2BCC6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928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665C5A7-4AC3-4878-8C15-C868F27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 case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7FCCB12-99F1-471A-BFBE-C0D6FC1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6692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Dev / prototype / hobby</a:t>
            </a:r>
            <a:endParaRPr sz="11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F1C19C1-1EF1-4C35-BABA-EC06EAE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692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Production app dengan revenue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123710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A4D3BB-E877-479F-BCAC-1B71574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602E61-2BBC-42DF-AC80-EFB109E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0269F6-0E4F-48B1-9DAB-ACE0F545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aa86325ba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28f63c08f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01DB628-EF5F-4354-8EF7-6B61A46B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EDE4AD4-F1CC-4B42-8892-ABE009E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Secrets di Spaces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E3893BC-CD22-4FE2-A7F1-42B9F08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API key + private model URL - jangan hardcode di code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F2C6C52-80D7-4838-9DC3-526FA39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3e588d3814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EC67243-5688-4D32-937D-948089D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0876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BAHAYA: </a:t>
            </a:r>
            <a:endParaRPr sz="14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651F90A-7771-449C-B14F-041D034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8778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 repo PUBLIC default - kalau hardcode token di code, bocor ke siapa saja.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523EE9AE-1E08-4151-8267-E055F5E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HF auto-scan code untuk token. Akan revoke + warning otomatis kalau detect. Tapi tetap pakai secrets!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09BDA146-4378-4D2F-B913-CFF51C8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952FBD8B-3F37-4F15-99EC-CD6AB6EA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CAED12F4-7765-4FE3-BD14-A5F53F7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E291E7FC-811C-4130-A0F8-743D5AAB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1E5923B8-114E-4AC6-8295-05138C8A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674D71C-CA09-4277-9D1F-24A259B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Set secret di Space Settings</a:t>
            </a:r>
            <a:endParaRPr sz="9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FFC4AC96-7C75-44EA-A1A0-10F5A18F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Via dashboard: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Spaces -&gt; Settings -&gt; Variables and secrets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Add 'OPENAI_API_KEY' = sk-xxx (Secret)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Atau via CLI: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huggingface-cli repo create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--type=space my-app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--space_sdk=gradio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Set secret via API CLI (huggingface_hub)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python -c 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huggingface_hub import add_space_secret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add_space_secret(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repo_id='budijuarto/my-app',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key='OPENAI_API_KEY',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value='sk-xxx')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"</a:t>
            </a:r>
            <a:endParaRPr sz="1100"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83EB3264-3C36-4B0D-9934-1A6C1D6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A1D55AE2-8775-4618-AEF7-FEB8A5B7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03F0C276-743F-4A00-9B52-889F900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0BFAA05-90DA-4488-B5DA-A9CF20F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FC5A767-8F26-48B7-B95E-EB92B46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73A06C6E-B668-4C78-925E-BB7314E2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Akses secret dari app.py</a:t>
            </a:r>
            <a:endParaRPr sz="900"/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999D5EB6-9197-47E7-AACA-818163A4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os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openai import OpenAI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Secret auto-inject sebagai env var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 = OpenAI(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api_key=os.environ["OPENAI_API_KEY"]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chat(message):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response = client.chat.completions.create(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model="gpt-4o-mini",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messages=[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{"role": "user", "content": message}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response.choices[0].message.content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gr.ChatInterface(chat).launch()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09843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14C0C9-2314-4279-9901-CFAB613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349945-85B8-4128-94A2-BCA4992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2BA104-26A8-47D9-B5F5-5EA1D56F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D9BDC1-01EB-4278-BA0B-2674C52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33C024D-9B32-423B-A260-DCFCB367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639EC2-87AC-4A97-9942-C2707FF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37EE2D-62EC-4800-901C-1ED8EBF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3ace3661b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b254f40474b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1884F69-7997-4302-8151-81089E5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49D3208-90C7-420C-A963-CD816D7A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A538B6D-8458-4517-8BF2-907A710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E0DB4C7-84BF-42CB-9D94-EEF8E0C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Optimize model, hindari pitfall, kapan upgrade.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738356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EEA9A1-A08F-4659-B16A-EEEA9DC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047842-FA10-4234-AE77-936DD33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7990D30-FE6F-45E9-AA8B-A7E6380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c4ff6728849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e6cd7f4684a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BC1C0E1-D679-43CE-A708-509C534D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32F8450-D52A-4FF5-8FD1-9D914FB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Model Optimization - Bikin Inference Cepat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240A30-65A9-4BDF-9458-062CB5CA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Trik kompres model + speed up inference tanpa downgrade UX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3D26FC0-E24B-4D99-AF4F-2C13F53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0F04AFA-3C15-4743-8D0F-D746BEA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70d8230d546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47C0881-04AA-4828-868D-C68A8E0D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Quantization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C20C8A1-D2F8-48A4-A017-8455BC8F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Convert FP32 -&gt; INT8/FP16. Model 4x lebih kecil, ~2x cepat, accuracy turun &lt; 1%.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11184CCE-C9E8-44BA-BA6A-4BFB93E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4D49F18-36A0-4F92-954E-06F50B6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torch.quantization, bitsandbytes</a:t>
            </a:r>
            <a:endParaRPr sz="9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AB820976-2810-4F44-A26A-04241AAC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FF5C7D0-522A-47F0-9BEC-427BA62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df172c8e24b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4D308B60-F04A-408A-9F61-568E5F9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Distillation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BDB171A-8D63-41EA-8632-8E62A42B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Train 'student' kecil meniru 'teacher' besar. DistilBERT 60% lebih kecil + 60% cepat.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86A08FC-8B3F-4952-8110-1682D38D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1AB37252-9E38-4889-BA26-4AC4DD0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Pakai *-distilled version di Hub</a:t>
            </a:r>
            <a:endParaRPr sz="9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6EB198B-AFC8-4ABF-9D24-10875BA2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C23C4FF8-A3FB-4FBD-B15F-3A6E24E8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57aa8dda445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E8D61C8-4C63-47CF-8B15-4D32226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ONNX Runtime</a:t>
            </a:r>
            <a:endParaRPr sz="13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4E88EED-67FD-457D-AEC2-14B60965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Convert PyTorch -&gt; ONNX. Run dengan optimized C++ engine. 2-3x speedup CPU.</a:t>
            </a:r>
            <a:endParaRPr sz="10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E3CD6A95-9CB7-475A-8DA3-0262658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CC2CB32B-1371-4F14-9F64-2A2351E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1752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transformers.onnx + onnxruntime</a:t>
            </a:r>
            <a:endParaRPr sz="9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624A60F0-AFAC-4A7D-983C-2FB608E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C3E46F2-1420-42CD-A4EB-CC03114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f9941041045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AABA29D2-CC9D-44C2-A7D9-2CEEA3E3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Batching</a:t>
            </a:r>
            <a:endParaRPr sz="13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3AB53848-06BD-4C20-ADFE-CFC6DE4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Process banyak input sekaligus, bukan satu-satu. GPU utilization naik 5-10x.</a:t>
            </a:r>
            <a:endParaRPr sz="105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B7C8532F-281F-4BA3-8198-59852443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552712ED-5AD5-4853-95A9-103220FD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pipeline(batch_size=32)</a:t>
            </a:r>
            <a:endParaRPr sz="9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FC28B84C-6D10-4F0C-885A-EE20574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58FF0C41-FEA7-4361-993C-5B804090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9b3599e00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089FBC41-72CD-43A0-9F82-51B1CCF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Cache Model in Memory</a:t>
            </a:r>
            <a:endParaRPr sz="13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02476DED-3DD9-47ED-B577-F5AA0664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Load model 1x di startup, bukan per request. Hemat 5-30 detik per call.</a:t>
            </a:r>
            <a:endParaRPr sz="105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1F9F2994-4064-4980-BCF1-FBD77B1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305FB9D3-B87F-4861-A0B1-2BCCAD5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9496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Global var atau @cache_resource</a:t>
            </a:r>
            <a:endParaRPr sz="90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CB58C8B8-7AEE-46C5-8724-787DC9A3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F803391D-F3BF-46B9-A6BF-9AA7A918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fe95885c34d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1D231B1F-15D9-4639-9D81-0DB9FAC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Async Inference</a:t>
            </a:r>
            <a:endParaRPr sz="13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6A5878EA-B8F4-4D1C-A1A6-C44A4C02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Run inference di thread terpisah supaya tidak block UI.</a:t>
            </a:r>
            <a:endParaRPr sz="1050"/>
          </a:p>
        </p:txBody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B13A9BF4-7D1C-42FB-B6D7-406BE6F5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124E257E-F528-4F3B-AE0E-692E19EB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9496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asyncio + ThreadPoolExecutor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707039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B0AB58-E9D4-4B40-B126-4ECFD9B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FBFC7A-235C-41CF-8E4E-ACB5A529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B76B69-EE4D-49F1-8DD4-DA84C088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71aff4ece4e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e2f8998c644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0F40FA3-AAF3-4605-A8A1-42C1ECB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32FEB62-08A9-4F6F-98C9-D98A0D5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Common Pitfalls + Troubleshooting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6E810C1-C8B9-49EC-B411-34323375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Masalah yang akan Anda temui di praktikum + cara fix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1F8A215-1021-48A0-812E-8FB81DCB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7657A4A-6FED-4372-891E-2851F52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289C52C-6C09-4665-80D8-63D9D401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timeout (10 min)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0255A04-B56B-4F86-A5D9-F05607C9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Requirements install lama - terutama torch / CUDA wheel.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E9DCF5B-A46B-4C83-865C-957B2B9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45040E0-5AE2-4719-AAA3-D38CF3E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Pin version, hindari conda. Pakai PyTorch CPU wheel kalau no GPU.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8B2DF3E-7A13-4C46-9245-C37CB063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E60AD03C-4507-4DFB-AD6B-CBC001C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7ED4AF6-6D66-425E-B2EA-887E4CA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Space sleep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3AD5CFF-29D7-491C-B76E-A3807C2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Kebijakan sleep dan cold start bergantung hardware serta paket Space.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5DDCF820-4E4C-405F-B045-0C15BB9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365D348-FBDA-4CE1-9791-5E006D07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Upgrade ke Persistent CPU,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atau pilih pengaturan hardware yang sesuai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3366DE0-ACAF-45D3-92F7-0F5C497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BB3A549-E058-4392-B021-3D9736A5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66E15E8-94D1-4444-B67A-633A8DCC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OOM (out of memory)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2593FE8-1C91-4BD5-8646-EFB8D628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+ image + cache lebih dari 16 GB RAM = container crash.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8248E56-2671-46EB-A42A-55CF5E00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75442A1-5C5C-4337-A884-AFB3F25E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model quantized (INT8), batch size kecil, atau upgrade RAM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A82006FD-6570-4F03-9221-69A1A4EC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F22A64C-D808-4A19-AE8E-A10E91D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8EED18E-C2B2-4BDB-912C-A5BECE70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GPU tidak detected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B797F8AA-A0E7-411C-9412-757150E6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Code pakai torch.cuda tapi 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Space CPU-only</a:t>
            </a: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- error 'CUDA not available'.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105BE571-49A8-45BE-AF70-73687BC0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0E0A8B7-627B-4BD2-8538-B9D8BBF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Cek: device = 'cuda' if torch.cuda.is_available() else 'cpu'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1429B6C-87AB-4A38-892F-530242E9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B9786A78-8529-4A30-BC6C-A1E6DEC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7E95F7B2-0459-47AF-B126-2599600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Token leak warning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6C8C95F1-3347-4E0B-9A9B-ACA6E4B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auto-scan code, detect API key hardcoded -&gt; revoke + email warning.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3FAC0C7-7F63-4895-A7FA-C1189A73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9BC3A71C-4303-4D67-B74A-AF904619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Secrets via dashboard. Tambah .env ke .gitignore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DDBB3327-8C52-4C40-8EE2-EBC90339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88C7D0B8-DE3F-4468-A759-408B0F4E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A57CB132-6695-40C3-A1F3-2F000675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Stuck di 'Building'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01126DA8-4901-4236-B080-6489A30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Build process hang - biasanya install dependency stuck di download.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11943F03-4113-46A5-8171-FEC3BEAD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F4DDD489-B7C7-4AED-95D1-C86AF62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49240"/>
            <a:ext cx="3154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</a:t>
            </a: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Restart space dari Settings, atau cek Logs untuk error spesifik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202107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695EF0-3FAB-41F5-8901-BADA78E6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9127B1-A6A5-492D-B673-53DF9941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C5D00F-1FE4-4B1D-B27B-1E97208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9b0b8ef6e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e7bc40ad449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743ED9A-0330-4134-9EAA-605B7C7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0E050DF-DA0E-4FB3-BF29-D7A884EA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Duplicate Space + Community Features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6A581B9-69B3-43F3-BECF-55975AD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Fork + adopt orang lain - learn from existing demo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F256EF1-F030-45D5-B48A-CD5C1ED1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359C2BF-93BE-4013-B7F1-3836CF8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042BDA7-3F5A-43ED-9D31-F36B9FAC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Duplicate Space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906606D-5014-4CFF-9007-5FC1184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Klik 'Duplicate this Space' di Space orang lain -&gt; auto fork ke account Anda.</a:t>
            </a:r>
            <a:endParaRPr sz="1100"/>
          </a:p>
        </p:txBody>
      </p:sp>
      <p:pic>
        <p:nvPicPr>
          <p:cNvPr id="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9291e57c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834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0053C9E-32FA-4833-A950-77D112C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743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Copy entire repo (code + config)</a:t>
            </a:r>
            <a:endParaRPr sz="1100"/>
          </a:p>
        </p:txBody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9291e57c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0D6BE111-CD3D-47FB-804F-1338C75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918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Inherit hardware tier (atau pilih beda)</a:t>
            </a:r>
            <a:endParaRPr sz="1100"/>
          </a:p>
        </p:txBody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9291e57c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31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21386E5D-85B8-4238-AD94-A7CB5FB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40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Cepat eksperimen tanpa setup ulang</a:t>
            </a:r>
            <a:endParaRPr sz="1100"/>
          </a:p>
        </p:txBody>
      </p:sp>
      <p:pic>
        <p:nvPicPr>
          <p:cNvPr id="7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9291e57c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805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83593EC4-922D-42A2-87A4-4895CB3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Bisa edit + push ke Space sendiri</a:t>
            </a:r>
            <a:endParaRPr sz="1100"/>
          </a:p>
        </p:txBody>
      </p:sp>
      <p:pic>
        <p:nvPicPr>
          <p:cNvPr id="7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9291e57c4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292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DD93A097-3B5C-44C9-BB07-FFC09A1C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937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Belajar best practice dari Space populer</a:t>
            </a:r>
            <a:endParaRPr sz="1100"/>
          </a:p>
        </p:txBody>
      </p:sp>
      <p:pic>
        <p:nvPicPr>
          <p:cNvPr id="7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8221643c47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77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C8482810-9511-4280-AD26-8E30F5DF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864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Hormati license author original</a:t>
            </a:r>
            <a:endParaRPr sz="1100"/>
          </a:p>
        </p:txBody>
      </p:sp>
      <p:sp>
        <p:nvSpPr>
          <p:cNvPr id="26" name="Shape 16">
            <a:extLst xmlns:a="http://schemas.openxmlformats.org/drawingml/2006/main">
              <a:ext uri="{FF2B5EF4-FFF2-40B4-BE49-F238E27FC236}">
                <a16:creationId xmlns:a16="http://schemas.microsoft.com/office/drawing/2014/main" id="{6027CBB3-BF8C-4FFB-A103-55089C12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5A68BCC0-C754-4A9C-854A-8E3C5A0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84B79DF2-98D8-4F55-B356-1C6CCF4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Community Features</a:t>
            </a:r>
            <a:endParaRPr sz="1400"/>
          </a:p>
        </p:txBody>
      </p:sp>
      <p:sp>
        <p:nvSpPr>
          <p:cNvPr id="29" name="Text 19">
            <a:extLst xmlns:a="http://schemas.openxmlformats.org/drawingml/2006/main">
              <a:ext uri="{FF2B5EF4-FFF2-40B4-BE49-F238E27FC236}">
                <a16:creationId xmlns:a16="http://schemas.microsoft.com/office/drawing/2014/main" id="{B8E89416-803C-4DE4-97D9-5E3F1E8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punya social layer mirip GitHub - engagement penting buat portfolio.</a:t>
            </a:r>
            <a:endParaRPr sz="1100"/>
          </a:p>
        </p:txBody>
      </p:sp>
      <p:pic>
        <p:nvPicPr>
          <p:cNvPr id="84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7f8be73bb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8346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30B8B984-E3C5-41C8-8A14-4B08561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7432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Likes + Trending - dapat exposure</a:t>
            </a:r>
            <a:endParaRPr sz="1100"/>
          </a:p>
        </p:txBody>
      </p:sp>
      <p:pic>
        <p:nvPicPr>
          <p:cNvPr id="86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0f12daa6f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3832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3" name="Text 21">
            <a:extLst xmlns:a="http://schemas.openxmlformats.org/drawingml/2006/main">
              <a:ext uri="{FF2B5EF4-FFF2-40B4-BE49-F238E27FC236}">
                <a16:creationId xmlns:a16="http://schemas.microsoft.com/office/drawing/2014/main" id="{E8D0D9A0-5BE8-4A3A-8008-C01CD464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2918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Discussions tab - tanya jawab + feedback</a:t>
            </a:r>
            <a:endParaRPr sz="1100"/>
          </a:p>
        </p:txBody>
      </p:sp>
      <p:pic>
        <p:nvPicPr>
          <p:cNvPr id="88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532b65b5e40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3931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5" name="Text 22">
            <a:extLst xmlns:a="http://schemas.openxmlformats.org/drawingml/2006/main">
              <a:ext uri="{FF2B5EF4-FFF2-40B4-BE49-F238E27FC236}">
                <a16:creationId xmlns:a16="http://schemas.microsoft.com/office/drawing/2014/main" id="{72BF6490-9355-47E6-A929-21436A0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Pull request flow - kontribusi balik</a:t>
            </a:r>
            <a:endParaRPr sz="1100"/>
          </a:p>
        </p:txBody>
      </p:sp>
      <p:pic>
        <p:nvPicPr>
          <p:cNvPr id="9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5beb154eb46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4805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23">
            <a:extLst xmlns:a="http://schemas.openxmlformats.org/drawingml/2006/main">
              <a:ext uri="{FF2B5EF4-FFF2-40B4-BE49-F238E27FC236}">
                <a16:creationId xmlns:a16="http://schemas.microsoft.com/office/drawing/2014/main" id="{8D70BCA0-A0A3-457A-B86A-FAF159FA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38912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Models tab - link ke model yang dipakai</a:t>
            </a:r>
            <a:endParaRPr sz="1100"/>
          </a:p>
        </p:txBody>
      </p:sp>
      <p:pic>
        <p:nvPicPr>
          <p:cNvPr id="92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60ae821e7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0292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9" name="Text 24">
            <a:extLst xmlns:a="http://schemas.openxmlformats.org/drawingml/2006/main">
              <a:ext uri="{FF2B5EF4-FFF2-40B4-BE49-F238E27FC236}">
                <a16:creationId xmlns:a16="http://schemas.microsoft.com/office/drawing/2014/main" id="{8FDB6766-04C7-4E81-8331-06F3E99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937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Datasets tab - data yang Anda pakai</a:t>
            </a:r>
            <a:endParaRPr sz="1100"/>
          </a:p>
        </p:txBody>
      </p:sp>
      <p:pic>
        <p:nvPicPr>
          <p:cNvPr id="94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9a5c923c44d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55778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41" name="Text 25">
            <a:extLst xmlns:a="http://schemas.openxmlformats.org/drawingml/2006/main">
              <a:ext uri="{FF2B5EF4-FFF2-40B4-BE49-F238E27FC236}">
                <a16:creationId xmlns:a16="http://schemas.microsoft.com/office/drawing/2014/main" id="{AEC15107-08E9-459D-9F68-58D5DA9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4864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Citations - kalau orang pakai work Anda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015066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725A33-9E5B-4E50-ABA6-C9E6DA1E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61EAF8-C1DF-4CF6-8A08-B30F24ED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DAABE3-1A3C-481C-9709-7949171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18192713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0c25532ef42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8310AE7-9CE4-4EF7-80C5-1485442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DD15837-69C4-4F31-853E-5D765C3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Hugging Face Spaces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5876E66-5164-4D6A-8923-FE5CFF0B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1F5EB46-767B-4151-A9D4-A938365D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6216D87-A187-485E-83E7-443A285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2CD3456-6AFC-4C2A-B5D1-D4AC75A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392CC96-308C-46B7-8E16-061443E7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huggingface.co signup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Generate write token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pip install huggingface_hub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hf auth login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Space compute: cek akun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Clone repo locally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C729CAB-A7E1-46AA-B695-CF4D3BD4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E1D390F-98E6-49A5-96D4-165562B9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7C821E5-8DA7-4C74-A631-0CE5FEF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Files Wajib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191AE9A-0956-4B1A-9170-0BC4332D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app.py (entry)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requirements.txt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README.md (metadata)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sdk: gradio/docker/static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app_file: app.py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Optional: pre-build.sh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4D39E27-FA3C-40D1-B3C1-8DB4D2A1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A66BC9-8DFF-4BD8-A7F1-16CFE2EC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0429ACE-166B-4C49-948D-D51F6433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Gradio Basic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70364BA-B4FC-4C48-9077-AD3F834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import gradio as gr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gr.Interface(fn, in, out)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gr.Blocks() complex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gr.Image(type='pil')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gr.Label(num_top=5)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.launch()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6DB05F-40CF-4E95-A788-8902975C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E628F39-1AF8-4F40-BC27-A607C39B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1315411-5CB9-4838-BC85-F0989281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Streamlit Basic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437C4822-E039-4342-9233-3D1B9D59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import streamlit as st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st.title / st.write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st.file_uploader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st.dataframe / chart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@st.cache_resource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st.session_state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EBB4A298-E7B1-492F-A350-C0C23F2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9ED83C70-FF89-49E8-B76F-1A905E60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FB4ADAE-30BC-4D95-9E9B-46F238A3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Transformers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92851496-2DC2-46BD-8620-3AFE73D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pipeline('task')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AutoModel.from_pretrained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AutoTokenizer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device='cuda' if avail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torch_dtype=torch.float16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trust_remote_code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46F1BBEC-58E8-4DF8-9E2D-16B7AF8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A4EE91C-9526-4A26-AA8D-9017860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052BAF0-94AC-4D9A-8E52-F086B49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0914041B-8F4A-47AA-8128-387C892B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 push HF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Auto build container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logs tab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Restart from Settings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Variables vs Secrets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Hardware upgrade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4B1E427C-89B1-45FA-A69E-4EFAC7AC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85D53BC-1262-481C-A6E1-BFFBC66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79A8DEC0-F6A7-4A3D-BFDA-3C13AA0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Inference API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E076D7B-354E-459D-847D-E6735938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router.huggingface.co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kuota provider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Bearer $HF_TOKEN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InferenceClient (py)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Ukur latensi aktual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Production -&gt; Endpoints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6659304-2085-465F-ADBB-09AB85A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0D11B0A0-B677-4BBE-AF07-162BF88E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DD1C900D-5769-49D1-8419-2196827B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Optimization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AAD910B-80AD-460C-AF95-FCDE2671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Quantization INT8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Pakai *-distilled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ONNX runtime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Batch inference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Cache model global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Jalur lokal tersedia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205219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46687D-1C67-403F-AE92-ECF9A2F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DAC554-A45E-457E-86A4-D573E31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42698F-1BBF-4228-A4F9-36CC68CA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0bd97d13f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6641ac4a8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EE017E1-7BEC-402F-A045-084C672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B13BCE9-ABC7-44E2-B938-3453B2D8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10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94CEB04-ABF2-482E-8E6E-5A582659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ML in Production: monitoring, A/B test, scaling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0520B58-F43F-4E50-A26C-07C7E53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9F1311A-FDDB-4DC9-B9F6-CF3BBA1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C29385E-8900-4572-A4AA-29DEA0C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743D028-C5AC-4DD8-912C-A8AA0CA3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 deploy beda: model size besar, GPU mahal, cold start pain.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BAB74D6-858E-47F9-9A64-D281D99A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B6E207C-7C58-4F97-B04C-7C0F62EF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372AF7D-40A1-4DFC-BEC1-67694F7A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HF Hub = GitHub-nya ML. 700K+ pretrained model siap pakai.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DFB1A25-3BCC-4229-8D07-96BFAF8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862F4E1-A95C-4C85-9A89-A86B0C2B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DBEAA4A-FE17-4D19-B0E0-5288B4B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Gradio = fungsi Python jadi UI - 5 baris untuk demo ML.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58A5883A-95AD-4408-8484-8ACDAAE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75703E7-D780-40BF-9653-3BAED4E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186A7C3-6F95-4F13-A969-17F5EE4F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Dengan akses Space: git push -&gt; build -&gt; URL live.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3954A5D-DD16-46F1-8DD7-B5C2EDA0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610F8DC-ADB2-4346-931D-119F448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2F65DCE-0595-4459-8C21-224E1722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Jalur lokal cukup untuk demo; Space compute bersyarat.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EFB0C6C-398A-47FC-8797-FF9E1AC4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1932FB-0CF4-4C7D-82F8-012DE9B0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FF86E29-B5B3-4687-B4C1-45256CA2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Inference API untuk dev. Inference Endpoints untuk production.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B538FBD0-2A93-4220-97E4-0F1A103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C6550318-6BB4-4A16-B18F-09E4BA0C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FF62DFD-AFA4-4545-96DE-9FA48CC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Secrets via Settings, jangan hardcode di code (auto-scanned).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877159B0-130A-49FF-9CBC-73C0DAD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56d6b97e64e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02E9FD48-764E-46CA-B85F-6CCBF1AD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9 -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E62972B0-039D-4D05-A74B-5E79CF81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Gradio lokal; deploy HF opsional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97E3CB9F-FD24-4413-9F05-647E9B8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Bikin Gradio app dengan model ViT/ResNet dari Hub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Push ke HF hanya jika akun memenuhi syarat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dengan 5+ image - dokumentasi accuracy hasil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Share Space URL ke teman + kumpulkan feedback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FF18F22B-8D0E-4DD8-932A-E2A6DA0F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48ef5521146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A311F756-6400-45B3-8039-B6351A7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10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F5F45A63-71C3-491D-82DE-4D98964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ML in Production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1D55F37E-03B1-4571-B0F4-2D9DE2C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Monitoring drift, A/B testing model, MLOps tools (W&amp;B, MLflow), model registry, CI/CD untuk ML.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EC0B906B-43F8-435E-B115-C42F3F65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183668b144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E434F8A1-E1F6-4AB5-836E-B578A2D9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ACA32507-ACE8-4323-B539-41DB9865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BF51C93C-C50E-45E3-9A60-33985D59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7B7490AE-8E62-462A-A792-4E3F6A3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LO3 (Create)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8073075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3D00BAB-C751-04EC-C80D-4CF6F98E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B13323-52BE-C19E-B35D-CB1954A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Gradio dan model HF: jalur praktik</a:t>
            </a:r>
            <a:endParaRPr sz="2800" b="1">
              <a:solidFill>
                <a:srgbClr val="00469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6EF954-88D4-E440-128C-B17C439D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Praktik lokal tersedia untuk semua peserta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AA04480-99B8-FE9F-D8A6-5DCC8CAE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Jalankan Gradio lokal dan coba komponen input/output pada labs/09.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A18090-CE8B-584F-3A10-95938D23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Uji baseline lokal; DistilBERT English opsional bila model dapat diunduh.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9D7C7B-B0F7-770A-5FA5-31702F1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Push ke HF Spaces hanya jika akun/institusi memenuhi syarat compute.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91C300-0357-5A8C-EF9D-4E05314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Static Space gratis; compute Gradio/Docker perlu paket, kecuali ZeroGPU tertentu.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AC978A-4293-D4B3-1F78-FD0FA92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Bukti proyek: repo GitHub, hasil uji, screenshot, dan demo lokal.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370A19-9DDC-A481-8EA8-5E9C9EC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github.com/SeedFlora/meet9CloudService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110900813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CBDFC-4528-4E1B-A99A-B57B5B50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BINUS UNIVERSITY  |  Cloud Services  |  Pertemuan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E9DBD-2F81-47CF-A931-A140FD4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Sebelum Lab 09: demo ML yang bisa diuji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1806E-8B53-4F05-93C5-7BFB05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rPr>
              <a:t>KASUS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084A5-9469-43E5-9EEB-0ADB78E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Kasus kerja: tim produk perlu memperlihatkan analisis sentimen keluhan kepada pemangku kepentingan tanpa meminta mereka memasang Python.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CCD10-965A-438F-B6B4-CCD96C8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HUBUNGAN DENGAN LAB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0AE12-B50A-4AEC-AAD9-B920C73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 09: jalankan Gradio lokal, uji contoh kalimat positif dan negatif, catat latensi. Publikasikan kode di GitHub; Spaces hanya jika akses compute tersedia.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BFF97-8708-41A4-AB58-4F81F5D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162f1801ddc409e"/>
              </a:rPr>
              <a:t>Bacaan resmi: Hugging Face Spaces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2BBFC-293E-4504-8A9F-C04710F7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e433695e7284dae"/>
              </a:rPr>
              <a:t>Video resmi: Spaces intro (di halaman bacaan)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A4AFF-6BFF-4CB1-AC85-F2ED7580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Klik judul sumber saat tayang; tautan lengkap ada di catatan pembicara.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75481-A99A-486D-BB43-9C81C11F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Sumber: dokumentasi dan video resmi  |  Diverifikasi 8 Okt 2026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53ca1bed14ace"/>
          <a:srcRect xmlns:a="http://schemas.openxmlformats.org/drawingml/2006/main" l="0" t="10443" r="0" b="10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7968" y="1762125"/>
            <a:ext cx="466344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371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2026-10-07T19:02:14.5440000Z</dcterms:created>
  <dcterms:modified xsi:type="dcterms:W3CDTF">2026-10-07T19:02:14.5450000Z</dcterms:modified>
</coreProperties>
</file>